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78" r:id="rId12"/>
    <p:sldId id="275" r:id="rId13"/>
    <p:sldId id="264" r:id="rId14"/>
    <p:sldId id="265" r:id="rId15"/>
    <p:sldId id="266" r:id="rId16"/>
    <p:sldId id="279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zRR7+2CI9s5OSZtfk0dAkjcIw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7647FD-0D6F-481F-B61F-CDA2E27D22BF}">
  <a:tblStyle styleId="{197647FD-0D6F-481F-B61F-CDA2E27D22BF}" styleName="Table_0">
    <a:wholeTbl>
      <a:tcTxStyle b="off" i="off">
        <a:font>
          <a:latin typeface="Cambria"/>
          <a:ea typeface="Cambria"/>
          <a:cs typeface="Cambr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E7"/>
          </a:solidFill>
        </a:fill>
      </a:tcStyle>
    </a:wholeTbl>
    <a:band1H>
      <a:tcTxStyle/>
      <a:tcStyle>
        <a:tcBdr/>
        <a:fill>
          <a:solidFill>
            <a:srgbClr val="CBD3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3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6/12/2026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BF74F06-9153-74DB-F1B6-031008E0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DF6CF7B6-A39B-01F2-DC4F-C35F6B164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>
            <a:extLst>
              <a:ext uri="{FF2B5EF4-FFF2-40B4-BE49-F238E27FC236}">
                <a16:creationId xmlns:a16="http://schemas.microsoft.com/office/drawing/2014/main" id="{CDEC02E5-DC21-DFAE-FEA8-BB957382D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6503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0730E9F-54A2-898B-5EBD-B90927F1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8864C444-592D-8985-50DD-C2E5CB9EF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>
            <a:extLst>
              <a:ext uri="{FF2B5EF4-FFF2-40B4-BE49-F238E27FC236}">
                <a16:creationId xmlns:a16="http://schemas.microsoft.com/office/drawing/2014/main" id="{203F197E-0835-8FEA-7DE4-C314D6134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855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7312DAF-BF8B-71AC-86BC-B0518347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69ABEE78-A1CD-1950-1712-694C9309D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>
            <a:extLst>
              <a:ext uri="{FF2B5EF4-FFF2-40B4-BE49-F238E27FC236}">
                <a16:creationId xmlns:a16="http://schemas.microsoft.com/office/drawing/2014/main" id="{35CE03CD-0416-66AD-88BF-4E06569C3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831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D057A1CE-A3E7-E220-7517-423240CA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EF00532E-99C0-6BE4-25F7-38F0139B4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>
            <a:extLst>
              <a:ext uri="{FF2B5EF4-FFF2-40B4-BE49-F238E27FC236}">
                <a16:creationId xmlns:a16="http://schemas.microsoft.com/office/drawing/2014/main" id="{8508DEDA-DF94-DE78-C3DC-3845E3A56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7555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8010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815782" cy="83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609599" y="1200727"/>
            <a:ext cx="11148291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737600" y="6437745"/>
            <a:ext cx="2844800" cy="2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4046248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title"/>
          </p:nvPr>
        </p:nvSpPr>
        <p:spPr>
          <a:xfrm>
            <a:off x="1981200" y="146293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mbria"/>
              <a:buNone/>
            </a:pPr>
            <a:r>
              <a:rPr lang="en-US" sz="4000"/>
              <a:t>CSE115</a:t>
            </a:r>
            <a:br>
              <a:rPr lang="en-US" sz="4000"/>
            </a:br>
            <a:r>
              <a:rPr lang="en-US" sz="4000"/>
              <a:t>Programming Language I</a:t>
            </a:r>
            <a:endParaRPr/>
          </a:p>
        </p:txBody>
      </p:sp>
      <p:sp>
        <p:nvSpPr>
          <p:cNvPr id="96" name="Google Shape;96;p1"/>
          <p:cNvSpPr txBox="1">
            <a:spLocks noGrp="1"/>
          </p:cNvSpPr>
          <p:nvPr>
            <p:ph type="body" idx="1"/>
          </p:nvPr>
        </p:nvSpPr>
        <p:spPr>
          <a:xfrm>
            <a:off x="1981200" y="3130898"/>
            <a:ext cx="82296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Md Mohaiminul Islam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Lecturer, Dept. of ECE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4294967295"/>
          </p:nvPr>
        </p:nvSpPr>
        <p:spPr>
          <a:xfrm>
            <a:off x="2094271" y="4945062"/>
            <a:ext cx="82296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400" dirty="0"/>
              <a:t>Lecture 03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400" dirty="0"/>
              <a:t>Version 1: Last updated </a:t>
            </a:r>
            <a:r>
              <a:rPr lang="en-US" sz="1400"/>
              <a:t>27 Sept </a:t>
            </a:r>
            <a:r>
              <a:rPr lang="en-US" sz="1400" dirty="0"/>
              <a:t>‘26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Recap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9503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/>
              <a:t>We had talked about variables, data types of variables, and interacting them via I/O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/>
              <a:t>We will learn about I/O more later, possibly in the lab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/>
              <a:t>Detail of data types needs basis of binary number systems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/>
              <a:t>Therefore, we will go through binary numbers today</a:t>
            </a:r>
            <a:endParaRPr/>
          </a:p>
          <a:p>
            <a:pPr marL="228600" lvl="0" indent="-25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Introduction to Number Systems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Base: The number of unique symbols available in the number system (0, 1, 2 etc.)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are familiar with decimal number system which has base 10. Other number systems we will work with are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Binary ----------- Base 2   : 0, 1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Octal ------------- Base 8   : 0, 1, 2, 3, 4, 5, 6, 7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Hexadecimal --- Base 16 : 0, 1, 2, 3, 4, 5, 6, 7, 8, 9, A, B, C, D, E, 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A72E"/>
              </a:buClr>
              <a:buSzPts val="32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Let's count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120" name="Google Shape;120;p4"/>
          <p:cNvGraphicFramePr/>
          <p:nvPr/>
        </p:nvGraphicFramePr>
        <p:xfrm>
          <a:off x="2022119" y="1714020"/>
          <a:ext cx="8168600" cy="4079350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20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Decimal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Binary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Octal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Hexadecimal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1000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1001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Let's count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28" name="Google Shape;128;p5"/>
          <p:cNvGraphicFramePr/>
          <p:nvPr/>
        </p:nvGraphicFramePr>
        <p:xfrm>
          <a:off x="2022119" y="1714020"/>
          <a:ext cx="8168600" cy="4079350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20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Decimal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Binary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Octal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Hexadecimal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1101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1111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F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10000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10001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21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10010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22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10011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23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strike="noStrike" cap="none"/>
                        <a:t>13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How about conversion?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So, we can write any number in any base by continuous counting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we do the same by converting?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if we want to know what 75 is in binary, what to do?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start from 0 = 0, 1 = 1, 2 = 10, 3 = 11 and build upto 75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the direct conversion is what we want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A72E"/>
              </a:buClr>
              <a:buSzPts val="32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Notation for Base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Before we start the conversion, let's learn to express the base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we write a number in non-decimal number system, we should write its base as subscript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r>
              <a:rPr lang="en-US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en-US" sz="4800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11001</a:t>
            </a:r>
            <a:r>
              <a:rPr lang="en-US" sz="4800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31</a:t>
            </a:r>
            <a:r>
              <a:rPr lang="en-US" sz="4800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19</a:t>
            </a:r>
            <a:r>
              <a:rPr lang="en-US" sz="4800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42" name="Google Shape;14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octal to decimal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body" idx="1"/>
          </p:nvPr>
        </p:nvSpPr>
        <p:spPr>
          <a:xfrm>
            <a:off x="580103" y="1825624"/>
            <a:ext cx="11208774" cy="479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Imagine an octal number expressed as (23)</a:t>
            </a:r>
            <a:r>
              <a:rPr lang="en-US" baseline="-25000" dirty="0"/>
              <a:t>8</a:t>
            </a:r>
            <a:r>
              <a:rPr lang="en-US" dirty="0"/>
              <a:t>. What is it in decimal?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 fact, forget decimal. Think of how can reach this number if we start our octal count from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Think of a clock’s hand. The green colored digit is equivalent to bigger hand, whereas red colored (i.e. rightmost) digit is like smaller hand of a clock.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If you turn the rightmost digit 8 times, it will loop around from 7 to 0 again, and that is the exact moment the immediate left digit increases by 1.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Also, why 8 times? Because of octal only has 8 unique symbols.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So how many red-tick do we need to go from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 </a:t>
            </a:r>
            <a:r>
              <a:rPr lang="en-US" dirty="0"/>
              <a:t>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?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It takes an entire set of 8 ticks for 2 times to get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, and then additional 3 tick for reaching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Overall, we used 8*2 + 3 = 19 ticks. That’s the numeric value.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(23)</a:t>
            </a:r>
            <a:r>
              <a:rPr lang="en-US" baseline="-25000" dirty="0"/>
              <a:t>8</a:t>
            </a:r>
            <a:r>
              <a:rPr lang="en-US" dirty="0"/>
              <a:t> = (19)</a:t>
            </a:r>
            <a:r>
              <a:rPr lang="en-US" baseline="-25000" dirty="0"/>
              <a:t>10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49" name="Google Shape;1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7F5AACEB-C9C7-AE71-9840-657B4713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>
            <a:extLst>
              <a:ext uri="{FF2B5EF4-FFF2-40B4-BE49-F238E27FC236}">
                <a16:creationId xmlns:a16="http://schemas.microsoft.com/office/drawing/2014/main" id="{4767E09A-1436-967D-C549-251EFED89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anything to decimal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8" name="Google Shape;148;p8">
            <a:extLst>
              <a:ext uri="{FF2B5EF4-FFF2-40B4-BE49-F238E27FC236}">
                <a16:creationId xmlns:a16="http://schemas.microsoft.com/office/drawing/2014/main" id="{8A2445C1-7F55-A62C-31D7-5A3A9D1E1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102" y="1825625"/>
            <a:ext cx="11218607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How about a larger octal number (356)</a:t>
            </a:r>
            <a:r>
              <a:rPr lang="en-US" baseline="-25000" dirty="0"/>
              <a:t>8</a:t>
            </a:r>
            <a:r>
              <a:rPr lang="en-US" dirty="0"/>
              <a:t>? What is it in decimal?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Again, imagine counting from 0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For every 8 tick on the red digit, 1 increase happens on the green digit.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For every 8 tick on the green digit, the black digit increases by 1.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Therefore, to reach the black digit 0 to black digit 3, we’ll need 8 * 8 * 3 = 192 turns of the red digit.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Continuing similar argument, we can figure out that from 0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 </a:t>
            </a:r>
            <a:r>
              <a:rPr lang="en-US" dirty="0"/>
              <a:t>to 3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dirty="0">
                <a:solidFill>
                  <a:srgbClr val="FF0000"/>
                </a:solidFill>
              </a:rPr>
              <a:t>6 </a:t>
            </a:r>
            <a:r>
              <a:rPr lang="en-US" dirty="0"/>
              <a:t>takes 3 * 8</a:t>
            </a:r>
            <a:r>
              <a:rPr lang="en-US" baseline="30000" dirty="0"/>
              <a:t>2</a:t>
            </a:r>
            <a:r>
              <a:rPr lang="en-US" dirty="0"/>
              <a:t> + 5 * 8 + 6 = 238 turns on the red.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(356)</a:t>
            </a:r>
            <a:r>
              <a:rPr lang="en-US" baseline="-25000" dirty="0"/>
              <a:t>8</a:t>
            </a:r>
            <a:r>
              <a:rPr lang="en-US" dirty="0"/>
              <a:t> = (238)</a:t>
            </a:r>
            <a:r>
              <a:rPr lang="en-US" baseline="-25000" dirty="0"/>
              <a:t>10</a:t>
            </a:r>
            <a:r>
              <a:rPr lang="en-US" dirty="0"/>
              <a:t>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Can you convert a binary number to decimal now?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Try (11010)</a:t>
            </a:r>
            <a:r>
              <a:rPr lang="en-US" baseline="-25000" dirty="0"/>
              <a:t>2</a:t>
            </a:r>
            <a:r>
              <a:rPr lang="en-US" dirty="0"/>
              <a:t> = (??)</a:t>
            </a:r>
            <a:r>
              <a:rPr lang="en-US" baseline="-25000" dirty="0"/>
              <a:t>10</a:t>
            </a:r>
            <a:r>
              <a:rPr lang="en-US" dirty="0"/>
              <a:t>. Time: 3-4 min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49" name="Google Shape;149;p8">
            <a:extLst>
              <a:ext uri="{FF2B5EF4-FFF2-40B4-BE49-F238E27FC236}">
                <a16:creationId xmlns:a16="http://schemas.microsoft.com/office/drawing/2014/main" id="{14DF4668-9351-E676-4CA6-C4D167C2A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76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3BF1562-C1D3-F790-D6C7-CE151B9FC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>
            <a:extLst>
              <a:ext uri="{FF2B5EF4-FFF2-40B4-BE49-F238E27FC236}">
                <a16:creationId xmlns:a16="http://schemas.microsoft.com/office/drawing/2014/main" id="{3B04CE47-7CF1-726A-EF58-7A9253538F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anything to decimal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8" name="Google Shape;148;p8">
            <a:extLst>
              <a:ext uri="{FF2B5EF4-FFF2-40B4-BE49-F238E27FC236}">
                <a16:creationId xmlns:a16="http://schemas.microsoft.com/office/drawing/2014/main" id="{554DFA03-4995-4BD5-FFFB-DF1E3E445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102" y="1825625"/>
            <a:ext cx="11218607" cy="478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How about a larger octal number (356)</a:t>
            </a:r>
            <a:r>
              <a:rPr lang="en-US" baseline="-25000" dirty="0"/>
              <a:t>8</a:t>
            </a:r>
            <a:r>
              <a:rPr lang="en-US" dirty="0"/>
              <a:t>? What is it in decimal?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Again, imagine counting from 0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For every 8 tick on the red digit, 1 increase happens on the green digit.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For every 8 tick on the green digit, the black digit increases by 1.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Therefore, to reach the black digit 0 to black digit 3, we’ll need 8 * 8 * 3 = 192 turns of the red digit.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Continuing similar argument, we can figure out that from 0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 </a:t>
            </a:r>
            <a:r>
              <a:rPr lang="en-US" dirty="0"/>
              <a:t>to 3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  <a:r>
              <a:rPr lang="en-US" dirty="0">
                <a:solidFill>
                  <a:srgbClr val="FF0000"/>
                </a:solidFill>
              </a:rPr>
              <a:t>6 </a:t>
            </a:r>
            <a:r>
              <a:rPr lang="en-US" dirty="0"/>
              <a:t>takes 3 * 8</a:t>
            </a:r>
            <a:r>
              <a:rPr lang="en-US" baseline="30000" dirty="0"/>
              <a:t>2</a:t>
            </a:r>
            <a:r>
              <a:rPr lang="en-US" dirty="0"/>
              <a:t> + 5 * 8 + 6 = 238 turns on the red.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(356)</a:t>
            </a:r>
            <a:r>
              <a:rPr lang="en-US" baseline="-25000" dirty="0"/>
              <a:t>8</a:t>
            </a:r>
            <a:r>
              <a:rPr lang="en-US" dirty="0"/>
              <a:t> = (238)</a:t>
            </a:r>
            <a:r>
              <a:rPr lang="en-US" baseline="-25000" dirty="0"/>
              <a:t>10</a:t>
            </a:r>
            <a:r>
              <a:rPr lang="en-US" dirty="0"/>
              <a:t>.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Can you convert a binary number to decimal now?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Try (11010)</a:t>
            </a:r>
            <a:r>
              <a:rPr lang="en-US" baseline="-25000" dirty="0"/>
              <a:t>2</a:t>
            </a:r>
            <a:r>
              <a:rPr lang="en-US" dirty="0"/>
              <a:t> = (??)</a:t>
            </a:r>
            <a:r>
              <a:rPr lang="en-US" baseline="-25000" dirty="0"/>
              <a:t>10</a:t>
            </a:r>
            <a:r>
              <a:rPr lang="en-US" dirty="0"/>
              <a:t>. Time: 3-4 min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Answer: 26.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49" name="Google Shape;149;p8">
            <a:extLst>
              <a:ext uri="{FF2B5EF4-FFF2-40B4-BE49-F238E27FC236}">
                <a16:creationId xmlns:a16="http://schemas.microsoft.com/office/drawing/2014/main" id="{2E83A354-29B1-16EC-22C6-BCED12C2D0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642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86833059-E649-22FD-5616-4CA0BE62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>
            <a:extLst>
              <a:ext uri="{FF2B5EF4-FFF2-40B4-BE49-F238E27FC236}">
                <a16:creationId xmlns:a16="http://schemas.microsoft.com/office/drawing/2014/main" id="{D1B793CE-9042-FE4D-E0BF-719643E0E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anything to decimal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8" name="Google Shape;148;p8">
            <a:extLst>
              <a:ext uri="{FF2B5EF4-FFF2-40B4-BE49-F238E27FC236}">
                <a16:creationId xmlns:a16="http://schemas.microsoft.com/office/drawing/2014/main" id="{639AC138-227C-C03E-FA34-04369D224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0102" y="1825625"/>
            <a:ext cx="11218607" cy="478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So basically, what it means that any digit of any number has a certain weight/heaviness to it.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farther away a digit is from the rightmost position, the heavier it is to increase by 1.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So, to find any number’s total tick, we can simply multiply the digits with their weights, which is basically higher powers of the base. For octal, weights get multiplied by 8 for each position, whereas for binary it’s 2.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49" name="Google Shape;149;p8">
            <a:extLst>
              <a:ext uri="{FF2B5EF4-FFF2-40B4-BE49-F238E27FC236}">
                <a16:creationId xmlns:a16="http://schemas.microsoft.com/office/drawing/2014/main" id="{A1B156B1-A466-B570-EAA7-8DE56EAFCB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7894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06726E95-8AD6-A6B0-D8DF-EDB7F8FB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>
            <a:extLst>
              <a:ext uri="{FF2B5EF4-FFF2-40B4-BE49-F238E27FC236}">
                <a16:creationId xmlns:a16="http://schemas.microsoft.com/office/drawing/2014/main" id="{616A68A7-065C-4724-9DD6-BF5CC243B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decimal to any base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8" name="Google Shape;148;p8">
            <a:extLst>
              <a:ext uri="{FF2B5EF4-FFF2-40B4-BE49-F238E27FC236}">
                <a16:creationId xmlns:a16="http://schemas.microsoft.com/office/drawing/2014/main" id="{AEEDACA8-F184-DAE6-3275-925992F3A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Express the decimal number as sum of powers of the base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For decimal to binary,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13 = 8 + 4 + 1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43 = 32 + 8 + 2 + 1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For decimal to octal,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13 = 8 + 1 + 1 + 1 + 1 + 1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43 = 8 + 8 + 8 + 8 + 8 + 1 + 1 + 1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Now, merge the same powers together, and put 0 for any missing power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49" name="Google Shape;149;p8">
            <a:extLst>
              <a:ext uri="{FF2B5EF4-FFF2-40B4-BE49-F238E27FC236}">
                <a16:creationId xmlns:a16="http://schemas.microsoft.com/office/drawing/2014/main" id="{257ADA70-DB61-2E0C-6DAF-0A66A41F00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88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decimal to any base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5" name="Google Shape;15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Express the decimal number as sum of powers of the base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decimal to binary,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13 = 8 + 4 + 1 = 8 + 4 + _ + 1 = 1101</a:t>
            </a:r>
            <a:r>
              <a:rPr lang="en-US" baseline="-25000"/>
              <a:t>2</a:t>
            </a:r>
            <a:endParaRPr baseline="-25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43 = 32 + 8 + 2 + 1 = 32 + _ + 8 + _ + 2 + 1 = 101011</a:t>
            </a:r>
            <a:r>
              <a:rPr lang="en-US" baseline="-25000"/>
              <a:t>2</a:t>
            </a:r>
            <a:endParaRPr baseline="-25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decimal to octal,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13 = 8 + 1 + 1 + 1 + 1 + 1 = </a:t>
            </a:r>
            <a:r>
              <a:rPr lang="en-US">
                <a:solidFill>
                  <a:srgbClr val="43AFE2"/>
                </a:solidFill>
              </a:rPr>
              <a:t>1</a:t>
            </a:r>
            <a:r>
              <a:rPr lang="en-US"/>
              <a:t> * 8 + </a:t>
            </a:r>
            <a:r>
              <a:rPr lang="en-US">
                <a:solidFill>
                  <a:srgbClr val="43AFE2"/>
                </a:solidFill>
              </a:rPr>
              <a:t>5</a:t>
            </a:r>
            <a:r>
              <a:rPr lang="en-US"/>
              <a:t> * 1 = 15</a:t>
            </a:r>
            <a:r>
              <a:rPr lang="en-US" baseline="-25000"/>
              <a:t>8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43 = 8 + 8 + 8 + 8 + 8 + 1 + 1 + 1 = </a:t>
            </a:r>
            <a:r>
              <a:rPr lang="en-US">
                <a:solidFill>
                  <a:srgbClr val="43AFE2"/>
                </a:solidFill>
              </a:rPr>
              <a:t>5</a:t>
            </a:r>
            <a:r>
              <a:rPr lang="en-US"/>
              <a:t> * 8 + </a:t>
            </a:r>
            <a:r>
              <a:rPr lang="en-US">
                <a:solidFill>
                  <a:srgbClr val="43AFE2"/>
                </a:solidFill>
              </a:rPr>
              <a:t>3</a:t>
            </a:r>
            <a:r>
              <a:rPr lang="en-US"/>
              <a:t> * 1 = 53</a:t>
            </a:r>
            <a:r>
              <a:rPr lang="en-US" baseline="-25000"/>
              <a:t>8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lang="en-US">
                <a:solidFill>
                  <a:srgbClr val="43AFE2"/>
                </a:solidFill>
              </a:rPr>
              <a:t>multiplier </a:t>
            </a:r>
            <a:r>
              <a:rPr lang="en-US"/>
              <a:t>cannot go beyond the base's unique symbol set, because they are the one that represent the number eventually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decimal to any base (formal)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2" name="Google Shape;162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Express the decimal number as sum of powers of the base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decimal to hexadecimal,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554 = (??)</a:t>
            </a:r>
            <a:r>
              <a:rPr lang="en-US" baseline="-25000"/>
              <a:t>16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554 &gt; 16</a:t>
            </a:r>
            <a:r>
              <a:rPr lang="en-US" baseline="30000"/>
              <a:t>3</a:t>
            </a:r>
            <a:r>
              <a:rPr lang="en-US"/>
              <a:t> ? No.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554 &gt; 16</a:t>
            </a:r>
            <a:r>
              <a:rPr lang="en-US" baseline="30000"/>
              <a:t>2</a:t>
            </a:r>
            <a:r>
              <a:rPr lang="en-US"/>
              <a:t> ? Yes.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554 = </a:t>
            </a:r>
            <a:r>
              <a:rPr lang="en-US">
                <a:solidFill>
                  <a:srgbClr val="43AFE2"/>
                </a:solidFill>
              </a:rPr>
              <a:t>2</a:t>
            </a:r>
            <a:r>
              <a:rPr lang="en-US"/>
              <a:t> * 16</a:t>
            </a:r>
            <a:r>
              <a:rPr lang="en-US" baseline="30000"/>
              <a:t>2</a:t>
            </a:r>
            <a:r>
              <a:rPr lang="en-US"/>
              <a:t> + </a:t>
            </a:r>
            <a:r>
              <a:rPr lang="en-US">
                <a:solidFill>
                  <a:srgbClr val="43AFE2"/>
                </a:solidFill>
              </a:rPr>
              <a:t>2</a:t>
            </a:r>
            <a:r>
              <a:rPr lang="en-US"/>
              <a:t> * 16</a:t>
            </a:r>
            <a:r>
              <a:rPr lang="en-US" baseline="30000"/>
              <a:t>1</a:t>
            </a:r>
            <a:r>
              <a:rPr lang="en-US"/>
              <a:t> + </a:t>
            </a:r>
            <a:r>
              <a:rPr lang="en-US">
                <a:solidFill>
                  <a:srgbClr val="43AFE2"/>
                </a:solidFill>
              </a:rPr>
              <a:t>10</a:t>
            </a:r>
            <a:r>
              <a:rPr lang="en-US"/>
              <a:t> = (22A)</a:t>
            </a:r>
            <a:r>
              <a:rPr lang="en-US" baseline="-25000"/>
              <a:t>16</a:t>
            </a:r>
            <a:endParaRPr baseline="-25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So, we are only interested in the multiplier weights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 = Σ(m * b</a:t>
            </a:r>
            <a:r>
              <a:rPr lang="en-US" baseline="30000"/>
              <a:t>p</a:t>
            </a:r>
            <a:r>
              <a:rPr lang="en-US"/>
              <a:t>); 0 ≤ m &lt; b; 0 ≤ 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we find them in more effortless manner?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decimal to any base (formal)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9" name="Google Shape;16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Express the decimal number as sum of powers of the base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decimal to hexadecimal,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554 = </a:t>
            </a:r>
            <a:r>
              <a:rPr lang="en-US">
                <a:solidFill>
                  <a:srgbClr val="43AFE2"/>
                </a:solidFill>
              </a:rPr>
              <a:t>2</a:t>
            </a:r>
            <a:r>
              <a:rPr lang="en-US"/>
              <a:t> * 16</a:t>
            </a:r>
            <a:r>
              <a:rPr lang="en-US" baseline="30000"/>
              <a:t>2</a:t>
            </a:r>
            <a:r>
              <a:rPr lang="en-US"/>
              <a:t> + </a:t>
            </a:r>
            <a:r>
              <a:rPr lang="en-US">
                <a:solidFill>
                  <a:srgbClr val="43AFE2"/>
                </a:solidFill>
              </a:rPr>
              <a:t>2</a:t>
            </a:r>
            <a:r>
              <a:rPr lang="en-US"/>
              <a:t> * 16</a:t>
            </a:r>
            <a:r>
              <a:rPr lang="en-US" baseline="30000"/>
              <a:t>1</a:t>
            </a:r>
            <a:r>
              <a:rPr lang="en-US"/>
              <a:t> + </a:t>
            </a:r>
            <a:r>
              <a:rPr lang="en-US">
                <a:solidFill>
                  <a:srgbClr val="43AFE2"/>
                </a:solidFill>
              </a:rPr>
              <a:t>10</a:t>
            </a:r>
            <a:r>
              <a:rPr lang="en-US"/>
              <a:t> = (22A)</a:t>
            </a:r>
            <a:r>
              <a:rPr lang="en-US" baseline="-25000"/>
              <a:t>16</a:t>
            </a:r>
            <a:endParaRPr baseline="-25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554 = (m' * 16) + </a:t>
            </a:r>
            <a:r>
              <a:rPr lang="en-US">
                <a:solidFill>
                  <a:srgbClr val="43AFE2"/>
                </a:solidFill>
              </a:rPr>
              <a:t>10</a:t>
            </a:r>
            <a:r>
              <a:rPr lang="en-US"/>
              <a:t> = ((m'</a:t>
            </a:r>
            <a:r>
              <a:rPr lang="en-US" baseline="-25000"/>
              <a:t>16</a:t>
            </a:r>
            <a:r>
              <a:rPr lang="en-US"/>
              <a:t>)</a:t>
            </a:r>
            <a:r>
              <a:rPr lang="en-US">
                <a:solidFill>
                  <a:srgbClr val="43AFE2"/>
                </a:solidFill>
              </a:rPr>
              <a:t>A</a:t>
            </a:r>
            <a:r>
              <a:rPr lang="en-US"/>
              <a:t>)</a:t>
            </a:r>
            <a:r>
              <a:rPr lang="en-US" baseline="-25000"/>
              <a:t>16</a:t>
            </a:r>
            <a:r>
              <a:rPr lang="en-US"/>
              <a:t>; Here, m' can go beyond b (=16)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Now, m' = N' = </a:t>
            </a:r>
            <a:r>
              <a:rPr lang="en-US">
                <a:solidFill>
                  <a:srgbClr val="43AFE2"/>
                </a:solidFill>
              </a:rPr>
              <a:t>2</a:t>
            </a:r>
            <a:r>
              <a:rPr lang="en-US"/>
              <a:t> * 16</a:t>
            </a:r>
            <a:r>
              <a:rPr lang="en-US" baseline="30000"/>
              <a:t>1</a:t>
            </a:r>
            <a:r>
              <a:rPr lang="en-US"/>
              <a:t> + </a:t>
            </a:r>
            <a:r>
              <a:rPr lang="en-US">
                <a:solidFill>
                  <a:srgbClr val="43AFE2"/>
                </a:solidFill>
              </a:rPr>
              <a:t>2</a:t>
            </a:r>
            <a:r>
              <a:rPr lang="en-US"/>
              <a:t> = (22)</a:t>
            </a:r>
            <a:r>
              <a:rPr lang="en-US" baseline="-25000"/>
              <a:t>16</a:t>
            </a:r>
            <a:r>
              <a:rPr lang="en-US"/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Ultimately, m' itself is a number that can be represented in our desired base (16), we just consider them "heavier"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you like dividing, this approach is the best.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70" name="Google Shape;17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Converting decimal to any base (formal)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9" name="Google Shape;16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Express the decimal number as sum of powers of the base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For decimal to hexadecimal,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554 = </a:t>
            </a:r>
            <a:r>
              <a:rPr lang="en-US" dirty="0">
                <a:solidFill>
                  <a:srgbClr val="43AFE2"/>
                </a:solidFill>
              </a:rPr>
              <a:t>2</a:t>
            </a:r>
            <a:r>
              <a:rPr lang="en-US" dirty="0"/>
              <a:t> * 16</a:t>
            </a:r>
            <a:r>
              <a:rPr lang="en-US" baseline="30000" dirty="0"/>
              <a:t>2</a:t>
            </a:r>
            <a:r>
              <a:rPr lang="en-US" dirty="0"/>
              <a:t> + </a:t>
            </a:r>
            <a:r>
              <a:rPr lang="en-US" dirty="0">
                <a:solidFill>
                  <a:srgbClr val="43AFE2"/>
                </a:solidFill>
              </a:rPr>
              <a:t>2</a:t>
            </a:r>
            <a:r>
              <a:rPr lang="en-US" dirty="0"/>
              <a:t> * 16</a:t>
            </a:r>
            <a:r>
              <a:rPr lang="en-US" baseline="30000" dirty="0"/>
              <a:t>1</a:t>
            </a:r>
            <a:r>
              <a:rPr lang="en-US" dirty="0"/>
              <a:t> + </a:t>
            </a:r>
            <a:r>
              <a:rPr lang="en-US" dirty="0">
                <a:solidFill>
                  <a:srgbClr val="43AFE2"/>
                </a:solidFill>
              </a:rPr>
              <a:t>10</a:t>
            </a:r>
            <a:r>
              <a:rPr lang="en-US" dirty="0"/>
              <a:t> = (22A)</a:t>
            </a:r>
            <a:r>
              <a:rPr lang="en-US" baseline="-25000" dirty="0"/>
              <a:t>16</a:t>
            </a:r>
            <a:endParaRPr baseline="-250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554 = (m' * 16) + </a:t>
            </a:r>
            <a:r>
              <a:rPr lang="en-US" dirty="0">
                <a:solidFill>
                  <a:srgbClr val="43AFE2"/>
                </a:solidFill>
              </a:rPr>
              <a:t>10</a:t>
            </a:r>
            <a:r>
              <a:rPr lang="en-US" dirty="0"/>
              <a:t> = ((m'</a:t>
            </a:r>
            <a:r>
              <a:rPr lang="en-US" baseline="-25000" dirty="0"/>
              <a:t>16</a:t>
            </a:r>
            <a:r>
              <a:rPr lang="en-US" dirty="0"/>
              <a:t>)</a:t>
            </a:r>
            <a:r>
              <a:rPr lang="en-US" dirty="0">
                <a:solidFill>
                  <a:srgbClr val="43AFE2"/>
                </a:solidFill>
              </a:rPr>
              <a:t>A</a:t>
            </a:r>
            <a:r>
              <a:rPr lang="en-US" dirty="0"/>
              <a:t>)</a:t>
            </a:r>
            <a:r>
              <a:rPr lang="en-US" baseline="-25000" dirty="0"/>
              <a:t>16</a:t>
            </a:r>
            <a:r>
              <a:rPr lang="en-US" dirty="0"/>
              <a:t>; Here, m' can go beyond b (=16)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Now, m' = N' = </a:t>
            </a:r>
            <a:r>
              <a:rPr lang="en-US" dirty="0">
                <a:solidFill>
                  <a:srgbClr val="43AFE2"/>
                </a:solidFill>
              </a:rPr>
              <a:t>2</a:t>
            </a:r>
            <a:r>
              <a:rPr lang="en-US" dirty="0"/>
              <a:t> * 16</a:t>
            </a:r>
            <a:r>
              <a:rPr lang="en-US" baseline="30000" dirty="0"/>
              <a:t>1</a:t>
            </a:r>
            <a:r>
              <a:rPr lang="en-US" dirty="0"/>
              <a:t> + </a:t>
            </a:r>
            <a:r>
              <a:rPr lang="en-US" dirty="0">
                <a:solidFill>
                  <a:srgbClr val="43AFE2"/>
                </a:solidFill>
              </a:rPr>
              <a:t>2</a:t>
            </a:r>
            <a:r>
              <a:rPr lang="en-US" dirty="0"/>
              <a:t> = (22)</a:t>
            </a:r>
            <a:r>
              <a:rPr lang="en-US" baseline="-25000" dirty="0"/>
              <a:t>16</a:t>
            </a:r>
            <a:r>
              <a:rPr lang="en-US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Ultimately, m' itself is a number that can be represented in our desired base (16), we just consider them "heavier"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If you like dividing, this approach is the best.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So, the approach is to keep track of division results and its remainders until division result is 0.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554 = </a:t>
            </a:r>
            <a:r>
              <a:rPr lang="en-US" dirty="0">
                <a:solidFill>
                  <a:srgbClr val="FFC000"/>
                </a:solidFill>
              </a:rPr>
              <a:t>34</a:t>
            </a:r>
            <a:r>
              <a:rPr lang="en-US" dirty="0"/>
              <a:t> * 16 +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10</a:t>
            </a:r>
            <a:r>
              <a:rPr lang="en-US" dirty="0"/>
              <a:t>; </a:t>
            </a:r>
            <a:r>
              <a:rPr lang="en-US" dirty="0">
                <a:solidFill>
                  <a:srgbClr val="FFC000"/>
                </a:solidFill>
              </a:rPr>
              <a:t>34</a:t>
            </a:r>
            <a:r>
              <a:rPr lang="en-US" dirty="0"/>
              <a:t> =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/>
              <a:t> * 16 +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/>
              <a:t>;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 * 16 +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(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22A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en-US" baseline="-2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  <a:endParaRPr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70" name="Google Shape;17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6E0B112-3D0B-4E6F-B882-6D648921A68D}"/>
              </a:ext>
            </a:extLst>
          </p:cNvPr>
          <p:cNvSpPr/>
          <p:nvPr/>
        </p:nvSpPr>
        <p:spPr>
          <a:xfrm>
            <a:off x="2294965" y="6104965"/>
            <a:ext cx="1837764" cy="645461"/>
          </a:xfrm>
          <a:custGeom>
            <a:avLst/>
            <a:gdLst>
              <a:gd name="connsiteX0" fmla="*/ 0 w 1837764"/>
              <a:gd name="connsiteY0" fmla="*/ 0 h 645461"/>
              <a:gd name="connsiteX1" fmla="*/ 1093694 w 1837764"/>
              <a:gd name="connsiteY1" fmla="*/ 645459 h 645461"/>
              <a:gd name="connsiteX2" fmla="*/ 1801906 w 1837764"/>
              <a:gd name="connsiteY2" fmla="*/ 8964 h 645461"/>
              <a:gd name="connsiteX3" fmla="*/ 1801906 w 1837764"/>
              <a:gd name="connsiteY3" fmla="*/ 8964 h 645461"/>
              <a:gd name="connsiteX4" fmla="*/ 1837764 w 1837764"/>
              <a:gd name="connsiteY4" fmla="*/ 89647 h 64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7764" h="645461">
                <a:moveTo>
                  <a:pt x="0" y="0"/>
                </a:moveTo>
                <a:cubicBezTo>
                  <a:pt x="396688" y="321982"/>
                  <a:pt x="793376" y="643965"/>
                  <a:pt x="1093694" y="645459"/>
                </a:cubicBezTo>
                <a:cubicBezTo>
                  <a:pt x="1394012" y="646953"/>
                  <a:pt x="1801906" y="8964"/>
                  <a:pt x="1801906" y="8964"/>
                </a:cubicBezTo>
                <a:lnTo>
                  <a:pt x="1801906" y="8964"/>
                </a:lnTo>
                <a:lnTo>
                  <a:pt x="1837764" y="8964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49D637A-EF15-4F50-926F-296E35EFF282}"/>
              </a:ext>
            </a:extLst>
          </p:cNvPr>
          <p:cNvSpPr/>
          <p:nvPr/>
        </p:nvSpPr>
        <p:spPr>
          <a:xfrm>
            <a:off x="4670612" y="6104965"/>
            <a:ext cx="1497106" cy="601009"/>
          </a:xfrm>
          <a:custGeom>
            <a:avLst/>
            <a:gdLst>
              <a:gd name="connsiteX0" fmla="*/ 0 w 1837764"/>
              <a:gd name="connsiteY0" fmla="*/ 0 h 645461"/>
              <a:gd name="connsiteX1" fmla="*/ 1093694 w 1837764"/>
              <a:gd name="connsiteY1" fmla="*/ 645459 h 645461"/>
              <a:gd name="connsiteX2" fmla="*/ 1801906 w 1837764"/>
              <a:gd name="connsiteY2" fmla="*/ 8964 h 645461"/>
              <a:gd name="connsiteX3" fmla="*/ 1801906 w 1837764"/>
              <a:gd name="connsiteY3" fmla="*/ 8964 h 645461"/>
              <a:gd name="connsiteX4" fmla="*/ 1837764 w 1837764"/>
              <a:gd name="connsiteY4" fmla="*/ 89647 h 64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7764" h="645461">
                <a:moveTo>
                  <a:pt x="0" y="0"/>
                </a:moveTo>
                <a:cubicBezTo>
                  <a:pt x="396688" y="321982"/>
                  <a:pt x="793376" y="643965"/>
                  <a:pt x="1093694" y="645459"/>
                </a:cubicBezTo>
                <a:cubicBezTo>
                  <a:pt x="1394012" y="646953"/>
                  <a:pt x="1801906" y="8964"/>
                  <a:pt x="1801906" y="8964"/>
                </a:cubicBezTo>
                <a:lnTo>
                  <a:pt x="1801906" y="8964"/>
                </a:lnTo>
                <a:lnTo>
                  <a:pt x="1837764" y="8964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3751F8C-AA5F-4AC1-82BD-CD7DF8D136B4}"/>
              </a:ext>
            </a:extLst>
          </p:cNvPr>
          <p:cNvSpPr/>
          <p:nvPr/>
        </p:nvSpPr>
        <p:spPr>
          <a:xfrm>
            <a:off x="3567953" y="5441542"/>
            <a:ext cx="4240306" cy="260011"/>
          </a:xfrm>
          <a:custGeom>
            <a:avLst/>
            <a:gdLst>
              <a:gd name="connsiteX0" fmla="*/ 4240306 w 4240306"/>
              <a:gd name="connsiteY0" fmla="*/ 224152 h 260011"/>
              <a:gd name="connsiteX1" fmla="*/ 3567953 w 4240306"/>
              <a:gd name="connsiteY1" fmla="*/ 34 h 260011"/>
              <a:gd name="connsiteX2" fmla="*/ 2312894 w 4240306"/>
              <a:gd name="connsiteY2" fmla="*/ 206223 h 260011"/>
              <a:gd name="connsiteX3" fmla="*/ 1084729 w 4240306"/>
              <a:gd name="connsiteY3" fmla="*/ 116576 h 260011"/>
              <a:gd name="connsiteX4" fmla="*/ 0 w 4240306"/>
              <a:gd name="connsiteY4" fmla="*/ 260011 h 260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0306" h="260011">
                <a:moveTo>
                  <a:pt x="4240306" y="224152"/>
                </a:moveTo>
                <a:cubicBezTo>
                  <a:pt x="4064747" y="113587"/>
                  <a:pt x="3889188" y="3022"/>
                  <a:pt x="3567953" y="34"/>
                </a:cubicBezTo>
                <a:cubicBezTo>
                  <a:pt x="3246718" y="-2954"/>
                  <a:pt x="2726765" y="186799"/>
                  <a:pt x="2312894" y="206223"/>
                </a:cubicBezTo>
                <a:cubicBezTo>
                  <a:pt x="1899023" y="225647"/>
                  <a:pt x="1470211" y="107611"/>
                  <a:pt x="1084729" y="116576"/>
                </a:cubicBezTo>
                <a:cubicBezTo>
                  <a:pt x="699247" y="125541"/>
                  <a:pt x="349623" y="192776"/>
                  <a:pt x="0" y="26001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30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Conversion between binary and octal/hexadecimal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6" name="Google Shape;17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Group together 3 or 4 bits of binary from right to left and convert individual group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(10010101011101010111100)</a:t>
            </a:r>
            <a:r>
              <a:rPr lang="en-US" baseline="-25000" dirty="0"/>
              <a:t>2</a:t>
            </a:r>
            <a:r>
              <a:rPr lang="en-US" dirty="0"/>
              <a:t> =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0</a:t>
            </a:r>
            <a:r>
              <a:rPr lang="en-US" dirty="0"/>
              <a:t>10 010 101 011 101 010 111 100)</a:t>
            </a:r>
            <a:r>
              <a:rPr lang="en-US" baseline="-25000" dirty="0"/>
              <a:t>2</a:t>
            </a:r>
            <a:r>
              <a:rPr lang="en-US" dirty="0"/>
              <a:t> = (?)</a:t>
            </a:r>
            <a:r>
              <a:rPr lang="en-US" baseline="-25000" dirty="0"/>
              <a:t>8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77" name="Google Shape;17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Conversion between binary and octal/hexadecimal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3" name="Google Shape;18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Group together 3 or 4 bits of binary from right to left and convert individual group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(10010101011101010111100)</a:t>
            </a:r>
            <a:r>
              <a:rPr lang="en-US" baseline="-25000" dirty="0"/>
              <a:t>2</a:t>
            </a:r>
            <a:r>
              <a:rPr lang="en-US" dirty="0"/>
              <a:t> =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0</a:t>
            </a:r>
            <a:r>
              <a:rPr lang="en-US" dirty="0"/>
              <a:t>10 010 101 011 101 010 111 100)</a:t>
            </a:r>
            <a:r>
              <a:rPr lang="en-US" baseline="-25000" dirty="0"/>
              <a:t>2</a:t>
            </a:r>
            <a:r>
              <a:rPr lang="en-US" dirty="0"/>
              <a:t> = (22535274)</a:t>
            </a:r>
            <a:r>
              <a:rPr lang="en-US" baseline="-25000" dirty="0"/>
              <a:t>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0</a:t>
            </a:r>
            <a:r>
              <a:rPr lang="en-US" dirty="0"/>
              <a:t>100 1010 1011 1010 1011 1100)</a:t>
            </a:r>
            <a:r>
              <a:rPr lang="en-US" baseline="-25000" dirty="0"/>
              <a:t>2</a:t>
            </a:r>
            <a:r>
              <a:rPr lang="en-US" dirty="0"/>
              <a:t> = (?)</a:t>
            </a:r>
            <a:r>
              <a:rPr lang="en-US" baseline="-25000" dirty="0"/>
              <a:t>16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84" name="Google Shape;18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Conversion between binary and octal/hexadecimal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0" name="Google Shape;190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Group together 3 or 4 bits of binary from right to left and </a:t>
            </a:r>
            <a:r>
              <a:rPr lang="en-US" dirty="0" err="1"/>
              <a:t>coinvert</a:t>
            </a:r>
            <a:r>
              <a:rPr lang="en-US" dirty="0"/>
              <a:t> individual group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(10010101011101010111100)</a:t>
            </a:r>
            <a:r>
              <a:rPr lang="en-US" baseline="30000" dirty="0"/>
              <a:t>2</a:t>
            </a:r>
            <a:r>
              <a:rPr lang="en-US" dirty="0"/>
              <a:t> =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0</a:t>
            </a:r>
            <a:r>
              <a:rPr lang="en-US" dirty="0"/>
              <a:t>10 010 101 011 101 010 111 100)</a:t>
            </a:r>
            <a:r>
              <a:rPr lang="en-US" baseline="30000" dirty="0"/>
              <a:t>2</a:t>
            </a:r>
            <a:r>
              <a:rPr lang="en-US" dirty="0"/>
              <a:t> = (22535274)</a:t>
            </a:r>
            <a:r>
              <a:rPr lang="en-US" baseline="-25000" dirty="0"/>
              <a:t>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0</a:t>
            </a:r>
            <a:r>
              <a:rPr lang="en-US" dirty="0"/>
              <a:t>100 1010 1011 1010 1011 1100)</a:t>
            </a:r>
            <a:r>
              <a:rPr lang="en-US" sz="1900" baseline="30000" dirty="0"/>
              <a:t>2</a:t>
            </a:r>
            <a:r>
              <a:rPr lang="en-US" dirty="0"/>
              <a:t> = (4ABABC)</a:t>
            </a:r>
            <a:r>
              <a:rPr lang="en-US" baseline="-25000" dirty="0"/>
              <a:t>16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So, the opposite i.e. octal/binary is the reverse process.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Make sure that you convert them to exactly full 3 bit number (for octal).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(23)</a:t>
            </a:r>
            <a:r>
              <a:rPr lang="en-US" baseline="-25000" dirty="0"/>
              <a:t>8</a:t>
            </a:r>
            <a:r>
              <a:rPr lang="en-US" dirty="0"/>
              <a:t> = (10 11)</a:t>
            </a:r>
            <a:r>
              <a:rPr lang="en-US" baseline="-25000" dirty="0"/>
              <a:t>2</a:t>
            </a:r>
            <a:r>
              <a:rPr lang="en-US" dirty="0"/>
              <a:t> is wrong, (23)</a:t>
            </a:r>
            <a:r>
              <a:rPr lang="en-US" baseline="-25000" dirty="0"/>
              <a:t>8</a:t>
            </a:r>
            <a:r>
              <a:rPr lang="en-US" dirty="0"/>
              <a:t> = (010 011)</a:t>
            </a:r>
            <a:r>
              <a:rPr lang="en-US" baseline="-25000" dirty="0"/>
              <a:t>2 </a:t>
            </a:r>
            <a:r>
              <a:rPr lang="en-US" dirty="0"/>
              <a:t>is correct.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Conversion Exercise</a:t>
            </a:r>
            <a:endParaRPr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aphicFrame>
        <p:nvGraphicFramePr>
          <p:cNvPr id="199" name="Google Shape;199;p15"/>
          <p:cNvGraphicFramePr/>
          <p:nvPr/>
        </p:nvGraphicFramePr>
        <p:xfrm>
          <a:off x="2022119" y="1714020"/>
          <a:ext cx="8168600" cy="2443530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20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Decimal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Binary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Octal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Hexadecimal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33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1110101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703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endParaRPr sz="2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r>
                        <a:rPr lang="en-US" sz="2800" u="none" strike="noStrike" cap="none"/>
                        <a:t>1AF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Conversion Exercise</a:t>
            </a:r>
            <a:endParaRPr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5" name="Google Shape;20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6" name="Google Shape;2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aphicFrame>
        <p:nvGraphicFramePr>
          <p:cNvPr id="207" name="Google Shape;207;p16"/>
          <p:cNvGraphicFramePr/>
          <p:nvPr/>
        </p:nvGraphicFramePr>
        <p:xfrm>
          <a:off x="2022119" y="1714020"/>
          <a:ext cx="8168600" cy="2443530"/>
        </p:xfrm>
        <a:graphic>
          <a:graphicData uri="http://schemas.openxmlformats.org/drawingml/2006/table">
            <a:tbl>
              <a:tblPr firstRow="1" bandRow="1">
                <a:noFill/>
                <a:tableStyleId>{197647FD-0D6F-481F-B61F-CDA2E27D22BF}</a:tableStyleId>
              </a:tblPr>
              <a:tblGrid>
                <a:gridCol w="20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Decimal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Binary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Octal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Hexadecimal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33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100001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41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21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117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1110101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165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75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451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111000011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703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1C3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r>
                        <a:rPr lang="en-US" sz="2800" u="none" strike="noStrike" cap="none"/>
                        <a:t>431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r>
                        <a:rPr lang="en-US" sz="2800" u="none" strike="noStrike" cap="none"/>
                        <a:t>110101111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r>
                        <a:rPr lang="en-US" sz="2800" u="none" strike="noStrike" cap="none"/>
                        <a:t>657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mbria"/>
                        <a:buNone/>
                      </a:pPr>
                      <a:r>
                        <a:rPr lang="en-US" sz="2800" u="none" strike="noStrike" cap="none"/>
                        <a:t>1AF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Common Powers of 2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3" name="Google Shape;21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74524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</a:t>
            </a:r>
            <a:r>
              <a:rPr lang="en-US" baseline="30000"/>
              <a:t>10</a:t>
            </a:r>
            <a:r>
              <a:rPr lang="en-US"/>
              <a:t> = 1024 ~= 1000 = 10</a:t>
            </a:r>
            <a:r>
              <a:rPr lang="en-US" baseline="30000"/>
              <a:t>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everyday use, 10</a:t>
            </a:r>
            <a:r>
              <a:rPr lang="en-US" baseline="30000"/>
              <a:t>3</a:t>
            </a:r>
            <a:r>
              <a:rPr lang="en-US"/>
              <a:t> means a kilo (k), 10</a:t>
            </a:r>
            <a:r>
              <a:rPr lang="en-US" baseline="30000"/>
              <a:t>6</a:t>
            </a:r>
            <a:r>
              <a:rPr lang="en-US"/>
              <a:t> a mega (M), 10</a:t>
            </a:r>
            <a:r>
              <a:rPr lang="en-US" baseline="30000"/>
              <a:t>9</a:t>
            </a:r>
            <a:r>
              <a:rPr lang="en-US"/>
              <a:t> a giga (G).</a:t>
            </a:r>
            <a:endParaRPr sz="1900" baseline="3000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aseline="-2500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>
            <a:spLocks noGrp="1"/>
          </p:cNvSpPr>
          <p:nvPr>
            <p:ph type="title"/>
          </p:nvPr>
        </p:nvSpPr>
        <p:spPr>
          <a:xfrm>
            <a:off x="838200" y="10416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Common Powers of 2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20" name="Google Shape;220;p18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82538" y="1199325"/>
            <a:ext cx="5026923" cy="497763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Common Powers of 2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7" name="Google Shape;22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74524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</a:t>
            </a:r>
            <a:r>
              <a:rPr lang="en-US" baseline="30000"/>
              <a:t>10</a:t>
            </a:r>
            <a:r>
              <a:rPr lang="en-US"/>
              <a:t> = 1024 ~= 1000 = 10</a:t>
            </a:r>
            <a:r>
              <a:rPr lang="en-US" baseline="30000"/>
              <a:t>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everyday use, 10</a:t>
            </a:r>
            <a:r>
              <a:rPr lang="en-US" baseline="30000"/>
              <a:t>3</a:t>
            </a:r>
            <a:r>
              <a:rPr lang="en-US"/>
              <a:t> means a kilo (k), 10</a:t>
            </a:r>
            <a:r>
              <a:rPr lang="en-US" baseline="30000"/>
              <a:t>6</a:t>
            </a:r>
            <a:r>
              <a:rPr lang="en-US"/>
              <a:t> a mega (M), 10</a:t>
            </a:r>
            <a:r>
              <a:rPr lang="en-US" baseline="30000"/>
              <a:t>9</a:t>
            </a:r>
            <a:r>
              <a:rPr lang="en-US"/>
              <a:t> a giga (G).</a:t>
            </a:r>
            <a:endParaRPr sz="1900" baseline="30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is 149 594 529 792 bytes = only 139 GB?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Because in computer science, usually the representation of powers of 2 applies.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Therefore, 1024 = 2</a:t>
            </a:r>
            <a:r>
              <a:rPr lang="en-US" baseline="30000"/>
              <a:t>10</a:t>
            </a:r>
            <a:r>
              <a:rPr lang="en-US"/>
              <a:t> = kilo, 1024</a:t>
            </a:r>
            <a:r>
              <a:rPr lang="en-US" baseline="30000"/>
              <a:t>2</a:t>
            </a:r>
            <a:r>
              <a:rPr lang="en-US"/>
              <a:t> = 2</a:t>
            </a:r>
            <a:r>
              <a:rPr lang="en-US" baseline="30000"/>
              <a:t>20</a:t>
            </a:r>
            <a:r>
              <a:rPr lang="en-US"/>
              <a:t> = mega and so 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Thus, 139GB = 139 * 1024</a:t>
            </a:r>
            <a:r>
              <a:rPr lang="en-US" baseline="30000"/>
              <a:t>3</a:t>
            </a:r>
            <a:r>
              <a:rPr lang="en-US"/>
              <a:t> bytes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aseline="-2500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1936</Words>
  <Application>Microsoft Office PowerPoint</Application>
  <PresentationFormat>Widescreen</PresentationFormat>
  <Paragraphs>318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CSE115 Programming Language I</vt:lpstr>
      <vt:lpstr>Recap</vt:lpstr>
      <vt:lpstr>Introduction to Number Systems</vt:lpstr>
      <vt:lpstr>Let's count</vt:lpstr>
      <vt:lpstr>Let's count</vt:lpstr>
      <vt:lpstr>How about conversion?</vt:lpstr>
      <vt:lpstr>Notation for Base</vt:lpstr>
      <vt:lpstr>Converting octal to decimal</vt:lpstr>
      <vt:lpstr>Converting anything to decimal</vt:lpstr>
      <vt:lpstr>Converting anything to decimal</vt:lpstr>
      <vt:lpstr>Converting anything to decimal</vt:lpstr>
      <vt:lpstr>Converting decimal to any base</vt:lpstr>
      <vt:lpstr>Converting decimal to any base</vt:lpstr>
      <vt:lpstr>Converting decimal to any base (formal)</vt:lpstr>
      <vt:lpstr>Converting decimal to any base (formal)</vt:lpstr>
      <vt:lpstr>Converting decimal to any base (formal)</vt:lpstr>
      <vt:lpstr>Conversion between binary and octal/hexadecimal</vt:lpstr>
      <vt:lpstr>Conversion between binary and octal/hexadecimal</vt:lpstr>
      <vt:lpstr>Conversion between binary and octal/hexadecimal</vt:lpstr>
      <vt:lpstr>Conversion Exercise</vt:lpstr>
      <vt:lpstr>Conversion Exercise</vt:lpstr>
      <vt:lpstr>Common Powers of 2</vt:lpstr>
      <vt:lpstr>Common Powers of 2</vt:lpstr>
      <vt:lpstr>Common Powers of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CSE115 Programming Language I</dc:title>
  <dc:creator>Mohaiminul Islam</dc:creator>
  <cp:lastModifiedBy>mohaiminul.islam@northsouth.edu</cp:lastModifiedBy>
  <cp:revision>33</cp:revision>
  <dcterms:created xsi:type="dcterms:W3CDTF">2026-06-03T23:57:42Z</dcterms:created>
  <dcterms:modified xsi:type="dcterms:W3CDTF">2026-09-27T08:21:58Z</dcterms:modified>
</cp:coreProperties>
</file>