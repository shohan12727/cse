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6"/>
  </p:notesMasterIdLst>
  <p:handoutMasterIdLst>
    <p:handoutMasterId r:id="rId37"/>
  </p:handoutMasterIdLst>
  <p:sldIdLst>
    <p:sldId id="335" r:id="rId2"/>
    <p:sldId id="336" r:id="rId3"/>
    <p:sldId id="337" r:id="rId4"/>
    <p:sldId id="367" r:id="rId5"/>
    <p:sldId id="338" r:id="rId6"/>
    <p:sldId id="364" r:id="rId7"/>
    <p:sldId id="340" r:id="rId8"/>
    <p:sldId id="341" r:id="rId9"/>
    <p:sldId id="342" r:id="rId10"/>
    <p:sldId id="343" r:id="rId11"/>
    <p:sldId id="344" r:id="rId12"/>
    <p:sldId id="345" r:id="rId13"/>
    <p:sldId id="368" r:id="rId14"/>
    <p:sldId id="348" r:id="rId15"/>
    <p:sldId id="347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70" r:id="rId24"/>
    <p:sldId id="356" r:id="rId25"/>
    <p:sldId id="357" r:id="rId26"/>
    <p:sldId id="358" r:id="rId27"/>
    <p:sldId id="359" r:id="rId28"/>
    <p:sldId id="360" r:id="rId29"/>
    <p:sldId id="369" r:id="rId30"/>
    <p:sldId id="365" r:id="rId31"/>
    <p:sldId id="366" r:id="rId32"/>
    <p:sldId id="361" r:id="rId33"/>
    <p:sldId id="362" r:id="rId34"/>
    <p:sldId id="363" r:id="rId35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S Sudarshan" initials="SS" lastIdx="1" clrIdx="1">
    <p:extLst>
      <p:ext uri="{19B8F6BF-5375-455C-9EA6-DF929625EA0E}">
        <p15:presenceInfo xmlns:p15="http://schemas.microsoft.com/office/powerpoint/2012/main" userId="b463bc06a992a74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40" autoAdjust="0"/>
    <p:restoredTop sz="96327" autoAdjust="0"/>
  </p:normalViewPr>
  <p:slideViewPr>
    <p:cSldViewPr snapToGrid="0">
      <p:cViewPr varScale="1">
        <p:scale>
          <a:sx n="123" d="100"/>
          <a:sy n="123" d="100"/>
        </p:scale>
        <p:origin x="440" y="192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1492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8DD873-39B1-4B0F-9E11-CA0A5E740CE2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8DD873-39B1-4B0F-9E11-CA0A5E740CE2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82168F-E865-405F-BB81-ED9E0172F23B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82168F-E865-405F-BB81-ED9E0172F23B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209238-363D-4A4D-99AF-38838EDEB568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11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648DA-533A-4CF4-BE6A-7CC0C8DD9180}" type="slidenum">
              <a:rPr lang="en-US" altLang="en-US" sz="1300">
                <a:latin typeface="Times New Roman" panose="02020603050405020304" pitchFamily="18" charset="0"/>
              </a:rPr>
              <a:pPr/>
              <a:t>12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648DA-533A-4CF4-BE6A-7CC0C8DD9180}" type="slidenum">
              <a:rPr lang="en-US" altLang="en-US" sz="1300">
                <a:latin typeface="Times New Roman" panose="02020603050405020304" pitchFamily="18" charset="0"/>
              </a:rPr>
              <a:pPr/>
              <a:t>13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5212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D4AE86D-105E-4E6D-B77F-4AC8A2CFF942}" type="slidenum">
              <a:rPr lang="en-US" altLang="en-US" sz="1300">
                <a:latin typeface="Times New Roman" panose="02020603050405020304" pitchFamily="18" charset="0"/>
              </a:rPr>
              <a:pPr/>
              <a:t>14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D4AE86D-105E-4E6D-B77F-4AC8A2CFF942}" type="slidenum">
              <a:rPr lang="en-US" altLang="en-US" sz="1300">
                <a:latin typeface="Times New Roman" panose="02020603050405020304" pitchFamily="18" charset="0"/>
              </a:rPr>
              <a:pPr/>
              <a:t>15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16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4B7984-B6AD-4D3E-800B-506D1974D9BE}" type="slidenum">
              <a:rPr lang="en-US" altLang="en-US" sz="1300">
                <a:latin typeface="Times New Roman" panose="02020603050405020304" pitchFamily="18" charset="0"/>
              </a:rPr>
              <a:pPr/>
              <a:t>17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4B7984-B6AD-4D3E-800B-506D1974D9BE}" type="slidenum">
              <a:rPr lang="en-US" altLang="en-US" sz="1300">
                <a:latin typeface="Times New Roman" panose="02020603050405020304" pitchFamily="18" charset="0"/>
              </a:rPr>
              <a:pPr/>
              <a:t>18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69003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19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20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21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E6BB600-5F46-4F6C-928D-3BCCB73D5636}" type="slidenum">
              <a:rPr lang="en-US" altLang="en-US" sz="1300">
                <a:latin typeface="Times New Roman" panose="02020603050405020304" pitchFamily="18" charset="0"/>
              </a:rPr>
              <a:pPr/>
              <a:t>22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E6BB600-5F46-4F6C-928D-3BCCB73D5636}" type="slidenum">
              <a:rPr lang="en-US" altLang="en-US" sz="1300">
                <a:latin typeface="Times New Roman" panose="02020603050405020304" pitchFamily="18" charset="0"/>
              </a:rPr>
              <a:pPr/>
              <a:t>24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51035C-5808-407C-8457-78863416B201}" type="slidenum">
              <a:rPr lang="en-US" altLang="en-US" sz="1300">
                <a:latin typeface="Times New Roman" panose="02020603050405020304" pitchFamily="18" charset="0"/>
              </a:rPr>
              <a:pPr/>
              <a:t>25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4B2C1-B6FF-4E08-B576-E580E4C742E5}" type="slidenum">
              <a:rPr lang="en-US" altLang="en-US" sz="1300">
                <a:latin typeface="Times New Roman" panose="02020603050405020304" pitchFamily="18" charset="0"/>
              </a:rPr>
              <a:pPr/>
              <a:t>26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27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28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A527C20-D984-443D-9364-8D80E7D14902}" type="slidenum">
              <a:rPr lang="en-US" altLang="en-US" sz="1200"/>
              <a:pPr/>
              <a:t>29</a:t>
            </a:fld>
            <a:endParaRPr lang="en-US" altLang="en-US" sz="1200" dirty="0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D6E09-C3BD-4C9F-8640-BDE33C2397BD}" type="slidenum">
              <a:rPr lang="en-US" altLang="en-US" sz="1200"/>
              <a:pPr/>
              <a:t>30</a:t>
            </a:fld>
            <a:endParaRPr lang="en-US" altLang="en-US" sz="1200" dirty="0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E38463-D7D2-48E0-9845-AEDC12745945}" type="slidenum">
              <a:rPr lang="en-US" altLang="en-US" sz="1200"/>
              <a:pPr/>
              <a:t>31</a:t>
            </a:fld>
            <a:endParaRPr lang="en-US" altLang="en-US" sz="1200" dirty="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32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33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73084" y="1093788"/>
            <a:ext cx="7702579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2.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2: Intro to Relational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Outline</a:t>
            </a:r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4900"/>
            <a:ext cx="7496760" cy="2772156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Structure of Relational Databases</a:t>
            </a:r>
          </a:p>
          <a:p>
            <a:r>
              <a:rPr lang="en-US" altLang="en-US" sz="1700" dirty="0"/>
              <a:t>Database Schema</a:t>
            </a:r>
          </a:p>
          <a:p>
            <a:r>
              <a:rPr lang="en-US" altLang="en-US" sz="1700" dirty="0"/>
              <a:t>Keys</a:t>
            </a:r>
          </a:p>
          <a:p>
            <a:r>
              <a:rPr lang="en-US" altLang="en-US" sz="1700" dirty="0"/>
              <a:t>Schema Diagrams</a:t>
            </a:r>
          </a:p>
          <a:p>
            <a:r>
              <a:rPr lang="en-US" altLang="en-US" sz="1700" dirty="0"/>
              <a:t>Relational Query Languages</a:t>
            </a:r>
          </a:p>
          <a:p>
            <a:r>
              <a:rPr lang="en-US" altLang="en-US" sz="1700" dirty="0"/>
              <a:t>The Relational Algebra</a:t>
            </a:r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a </a:t>
            </a:r>
            <a:r>
              <a:rPr lang="en-US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Instructor</a:t>
            </a: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Relation</a:t>
            </a: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7040563" y="1333500"/>
            <a:ext cx="1454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attributes</a:t>
            </a:r>
          </a:p>
          <a:p>
            <a:pPr algn="ctr"/>
            <a:r>
              <a:rPr lang="en-US" altLang="en-US" sz="1800"/>
              <a:t>(or columns)</a:t>
            </a:r>
            <a:endParaRPr lang="en-US" altLang="en-US"/>
          </a:p>
        </p:txBody>
      </p:sp>
      <p:sp>
        <p:nvSpPr>
          <p:cNvPr id="5124" name="Line 5"/>
          <p:cNvSpPr>
            <a:spLocks noChangeShapeType="1"/>
          </p:cNvSpPr>
          <p:nvPr/>
        </p:nvSpPr>
        <p:spPr bwMode="auto">
          <a:xfrm flipH="1">
            <a:off x="3238499" y="1565275"/>
            <a:ext cx="3927475" cy="350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5" name="Line 6"/>
          <p:cNvSpPr>
            <a:spLocks noChangeShapeType="1"/>
          </p:cNvSpPr>
          <p:nvPr/>
        </p:nvSpPr>
        <p:spPr bwMode="auto">
          <a:xfrm flipH="1">
            <a:off x="4608513" y="1546225"/>
            <a:ext cx="2557461" cy="36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6" name="Line 7"/>
          <p:cNvSpPr>
            <a:spLocks noChangeShapeType="1"/>
          </p:cNvSpPr>
          <p:nvPr/>
        </p:nvSpPr>
        <p:spPr bwMode="auto">
          <a:xfrm flipH="1">
            <a:off x="5819775" y="1565275"/>
            <a:ext cx="13208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6988175" y="2522538"/>
            <a:ext cx="1085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tuples</a:t>
            </a:r>
          </a:p>
          <a:p>
            <a:pPr algn="ctr"/>
            <a:r>
              <a:rPr lang="en-US" altLang="en-US" sz="1800"/>
              <a:t>(or rows)</a:t>
            </a:r>
            <a:endParaRPr lang="en-US" altLang="en-US"/>
          </a:p>
        </p:txBody>
      </p:sp>
      <p:sp>
        <p:nvSpPr>
          <p:cNvPr id="5128" name="Line 9"/>
          <p:cNvSpPr>
            <a:spLocks noChangeShapeType="1"/>
          </p:cNvSpPr>
          <p:nvPr/>
        </p:nvSpPr>
        <p:spPr bwMode="auto">
          <a:xfrm flipH="1" flipV="1">
            <a:off x="6742113" y="2487613"/>
            <a:ext cx="369887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9" name="Line 10"/>
          <p:cNvSpPr>
            <a:spLocks noChangeShapeType="1"/>
          </p:cNvSpPr>
          <p:nvPr/>
        </p:nvSpPr>
        <p:spPr bwMode="auto">
          <a:xfrm flipH="1">
            <a:off x="6729413" y="2706688"/>
            <a:ext cx="369887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30" name="Line 11"/>
          <p:cNvSpPr>
            <a:spLocks noChangeShapeType="1"/>
          </p:cNvSpPr>
          <p:nvPr/>
        </p:nvSpPr>
        <p:spPr bwMode="auto">
          <a:xfrm flipH="1">
            <a:off x="6718300" y="2717800"/>
            <a:ext cx="392113" cy="312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31" name="Line 12"/>
          <p:cNvSpPr>
            <a:spLocks noChangeShapeType="1"/>
          </p:cNvSpPr>
          <p:nvPr/>
        </p:nvSpPr>
        <p:spPr bwMode="auto">
          <a:xfrm flipH="1">
            <a:off x="6729413" y="2727325"/>
            <a:ext cx="38100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151978-E921-4884-8DCD-8A5563064E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3197"/>
          <a:stretch/>
        </p:blipFill>
        <p:spPr>
          <a:xfrm>
            <a:off x="1680369" y="1756896"/>
            <a:ext cx="5154612" cy="442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dirty="0"/>
              <a:t>Relation Schema and Instance</a:t>
            </a:r>
            <a:endParaRPr lang="en-US" altLang="en-US" dirty="0"/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4899"/>
            <a:ext cx="7979724" cy="3712197"/>
          </a:xfrm>
        </p:spPr>
        <p:txBody>
          <a:bodyPr lIns="90488" tIns="44450" rIns="90488" bIns="44450"/>
          <a:lstStyle/>
          <a:p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dirty="0">
                <a:ea typeface="ＭＳ Ｐゴシック" panose="020B0600070205080204" pitchFamily="34" charset="-128"/>
              </a:rPr>
              <a:t>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ea typeface="ＭＳ Ｐゴシック" panose="020B0600070205080204" pitchFamily="34" charset="-128"/>
              </a:rPr>
              <a:t>, …,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en-US" i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are </a:t>
            </a:r>
            <a:r>
              <a:rPr lang="en-US" altLang="en-US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attributes</a:t>
            </a:r>
          </a:p>
          <a:p>
            <a:r>
              <a:rPr lang="en-US" altLang="en-US" i="1" dirty="0">
                <a:ea typeface="ＭＳ Ｐゴシック" panose="020B0600070205080204" pitchFamily="34" charset="-128"/>
              </a:rPr>
              <a:t>R</a:t>
            </a:r>
            <a:r>
              <a:rPr lang="en-US" altLang="en-US" dirty="0">
                <a:ea typeface="ＭＳ Ｐゴシック" panose="020B0600070205080204" pitchFamily="34" charset="-128"/>
              </a:rPr>
              <a:t> = (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dirty="0">
                <a:ea typeface="ＭＳ Ｐゴシック" panose="020B0600070205080204" pitchFamily="34" charset="-128"/>
              </a:rPr>
              <a:t>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ea typeface="ＭＳ Ｐゴシック" panose="020B0600070205080204" pitchFamily="34" charset="-128"/>
              </a:rPr>
              <a:t>, …, </a:t>
            </a:r>
            <a:r>
              <a:rPr lang="en-US" altLang="en-US" i="1" dirty="0">
                <a:ea typeface="ＭＳ Ｐゴシック" panose="020B0600070205080204" pitchFamily="34" charset="-128"/>
              </a:rPr>
              <a:t>A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n</a:t>
            </a:r>
            <a:r>
              <a:rPr lang="en-US" altLang="en-US" dirty="0">
                <a:ea typeface="ＭＳ Ｐゴシック" panose="020B0600070205080204" pitchFamily="34" charset="-128"/>
              </a:rPr>
              <a:t> ) is a </a:t>
            </a:r>
            <a:r>
              <a:rPr lang="en-US" altLang="en-US" b="1" dirty="0">
                <a:solidFill>
                  <a:srgbClr val="002060"/>
                </a:solidFill>
                <a:ea typeface="ＭＳ Ｐゴシック" panose="020B0600070205080204" pitchFamily="34" charset="-128"/>
              </a:rPr>
              <a:t>relation schema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	Example: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	</a:t>
            </a:r>
            <a:r>
              <a:rPr lang="en-US" altLang="en-US" i="1" dirty="0">
                <a:ea typeface="ＭＳ Ｐゴシック" panose="020B0600070205080204" pitchFamily="34" charset="-128"/>
              </a:rPr>
              <a:t>     instructor </a:t>
            </a:r>
            <a:r>
              <a:rPr lang="en-US" altLang="en-US" dirty="0">
                <a:ea typeface="ＭＳ Ｐゴシック" panose="020B0600070205080204" pitchFamily="34" charset="-128"/>
              </a:rPr>
              <a:t> = (</a:t>
            </a:r>
            <a:r>
              <a:rPr lang="en-US" altLang="en-US" i="1" dirty="0">
                <a:ea typeface="ＭＳ Ｐゴシック" panose="020B0600070205080204" pitchFamily="34" charset="-128"/>
              </a:rPr>
              <a:t>ID,  name, dept_name, salary</a:t>
            </a:r>
            <a:r>
              <a:rPr lang="en-US" altLang="en-US" dirty="0">
                <a:ea typeface="ＭＳ Ｐゴシック" panose="020B0600070205080204" pitchFamily="34" charset="-128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2060"/>
                </a:solidFill>
              </a:rPr>
              <a:t>relation instance </a:t>
            </a:r>
            <a:r>
              <a:rPr lang="en-US" altLang="en-US" i="1" dirty="0"/>
              <a:t>r</a:t>
            </a:r>
            <a:r>
              <a:rPr lang="en-US" altLang="en-US" dirty="0"/>
              <a:t> defined over schema </a:t>
            </a:r>
            <a:r>
              <a:rPr lang="en-US" altLang="en-US" i="1" dirty="0"/>
              <a:t>R</a:t>
            </a:r>
            <a:r>
              <a:rPr lang="en-US" altLang="en-US" dirty="0"/>
              <a:t> is denoted  by </a:t>
            </a:r>
            <a:r>
              <a:rPr lang="en-US" altLang="en-US" i="1" dirty="0"/>
              <a:t>r </a:t>
            </a:r>
            <a:r>
              <a:rPr lang="en-US" altLang="en-US" dirty="0"/>
              <a:t>(</a:t>
            </a:r>
            <a:r>
              <a:rPr lang="en-US" altLang="en-US" i="1" dirty="0"/>
              <a:t>R</a:t>
            </a:r>
            <a:r>
              <a:rPr lang="en-US" altLang="en-US" dirty="0"/>
              <a:t>).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The current values a relation are specified by a table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An element </a:t>
            </a:r>
            <a:r>
              <a:rPr lang="en-US" altLang="en-US" b="1" i="1" dirty="0">
                <a:solidFill>
                  <a:srgbClr val="000099"/>
                </a:solidFill>
              </a:rPr>
              <a:t>t</a:t>
            </a:r>
            <a:r>
              <a:rPr lang="en-US" altLang="en-US" b="1" dirty="0">
                <a:solidFill>
                  <a:srgbClr val="000099"/>
                </a:solidFill>
              </a:rPr>
              <a:t> </a:t>
            </a:r>
            <a:r>
              <a:rPr lang="en-US" altLang="en-US" dirty="0"/>
              <a:t>of</a:t>
            </a:r>
            <a:r>
              <a:rPr lang="en-US" altLang="en-US" b="1" dirty="0">
                <a:solidFill>
                  <a:schemeClr val="bg2"/>
                </a:solidFill>
              </a:rPr>
              <a:t> </a:t>
            </a:r>
            <a:r>
              <a:rPr lang="en-US" altLang="en-US" dirty="0"/>
              <a:t>relation</a:t>
            </a:r>
            <a:r>
              <a:rPr lang="en-US" altLang="en-US" b="1" dirty="0">
                <a:solidFill>
                  <a:schemeClr val="bg2"/>
                </a:solidFill>
              </a:rPr>
              <a:t> </a:t>
            </a:r>
            <a:r>
              <a:rPr lang="en-US" altLang="en-US" b="1" i="1" dirty="0">
                <a:solidFill>
                  <a:srgbClr val="000099"/>
                </a:solidFill>
              </a:rPr>
              <a:t>r</a:t>
            </a:r>
            <a:r>
              <a:rPr lang="en-US" altLang="en-US" dirty="0"/>
              <a:t> is called a  </a:t>
            </a:r>
            <a:r>
              <a:rPr lang="en-US" altLang="en-US" b="1" dirty="0">
                <a:solidFill>
                  <a:srgbClr val="002060"/>
                </a:solidFill>
              </a:rPr>
              <a:t>tuple</a:t>
            </a:r>
            <a:r>
              <a:rPr lang="en-US" altLang="en-US" dirty="0"/>
              <a:t> and is represented by a </a:t>
            </a:r>
            <a:r>
              <a:rPr lang="en-US" altLang="en-US" b="1" dirty="0">
                <a:solidFill>
                  <a:srgbClr val="002060"/>
                </a:solidFill>
              </a:rPr>
              <a:t>row</a:t>
            </a:r>
            <a:r>
              <a:rPr lang="en-US" altLang="en-US" i="1" dirty="0"/>
              <a:t> </a:t>
            </a:r>
            <a:r>
              <a:rPr lang="en-US" altLang="en-US" dirty="0"/>
              <a:t>in a table</a:t>
            </a:r>
          </a:p>
          <a:p>
            <a:pPr>
              <a:lnSpc>
                <a:spcPct val="120000"/>
              </a:lnSpc>
            </a:pPr>
            <a:endParaRPr lang="en-US" altLang="en-US" sz="1700" dirty="0"/>
          </a:p>
        </p:txBody>
      </p:sp>
    </p:spTree>
    <p:extLst>
      <p:ext uri="{BB962C8B-B14F-4D97-AF65-F5344CB8AC3E}">
        <p14:creationId xmlns:p14="http://schemas.microsoft.com/office/powerpoint/2010/main" val="273649219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Attributes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19200"/>
            <a:ext cx="7656558" cy="4230624"/>
          </a:xfrm>
        </p:spPr>
        <p:txBody>
          <a:bodyPr/>
          <a:lstStyle/>
          <a:p>
            <a:r>
              <a:rPr lang="en-US" altLang="en-US" sz="1700" dirty="0"/>
              <a:t>The set of allowed values for each attribute is called the </a:t>
            </a:r>
            <a:r>
              <a:rPr lang="en-US" altLang="en-US" sz="1700" b="1" dirty="0">
                <a:solidFill>
                  <a:srgbClr val="002060"/>
                </a:solidFill>
              </a:rPr>
              <a:t>domain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of the attribute</a:t>
            </a:r>
          </a:p>
          <a:p>
            <a:r>
              <a:rPr lang="en-US" altLang="en-US" sz="1700" dirty="0"/>
              <a:t>Attribute values are (normally) required to be </a:t>
            </a:r>
            <a:r>
              <a:rPr lang="en-US" altLang="en-US" sz="1700" b="1" dirty="0">
                <a:solidFill>
                  <a:srgbClr val="002060"/>
                </a:solidFill>
              </a:rPr>
              <a:t>atomic</a:t>
            </a:r>
            <a:r>
              <a:rPr lang="en-US" altLang="en-US" sz="1700" dirty="0"/>
              <a:t>; that is, indivisible</a:t>
            </a:r>
          </a:p>
          <a:p>
            <a:r>
              <a:rPr lang="en-US" altLang="en-US" sz="1700" dirty="0"/>
              <a:t>The special value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b="1" i="1" dirty="0">
                <a:solidFill>
                  <a:srgbClr val="000000"/>
                </a:solidFill>
              </a:rPr>
              <a:t>null</a:t>
            </a:r>
            <a:r>
              <a:rPr lang="en-US" altLang="en-US" sz="1700" dirty="0"/>
              <a:t>  is a member of every domain. Indicated that the value is “unknown”</a:t>
            </a:r>
          </a:p>
          <a:p>
            <a:r>
              <a:rPr lang="en-US" altLang="en-US" sz="1700" dirty="0"/>
              <a:t>The null value causes complications in the definition of many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Relations are Unordered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19200"/>
            <a:ext cx="7621047" cy="1048512"/>
          </a:xfrm>
        </p:spPr>
        <p:txBody>
          <a:bodyPr/>
          <a:lstStyle/>
          <a:p>
            <a:r>
              <a:rPr lang="en-US" altLang="en-US" sz="1700" dirty="0"/>
              <a:t>Order of tuples is irrelevant (tuples may be stored in an arbitrary order)</a:t>
            </a:r>
          </a:p>
          <a:p>
            <a:r>
              <a:rPr lang="en-US" altLang="en-US" sz="1700" dirty="0"/>
              <a:t>Example: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 relation with unordered tuples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2967B4-430E-442F-B611-B9DC46ED7A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b="12197"/>
          <a:stretch/>
        </p:blipFill>
        <p:spPr>
          <a:xfrm>
            <a:off x="1948917" y="2188304"/>
            <a:ext cx="4702738" cy="37135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Database Schema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2297"/>
            <a:ext cx="7594414" cy="2055431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Database schema </a:t>
            </a:r>
            <a:r>
              <a:rPr lang="en-US" altLang="en-US" sz="1700" dirty="0">
                <a:sym typeface="Symbol" panose="05050102010706020507" pitchFamily="18" charset="2"/>
              </a:rPr>
              <a:t>-- is the logical structure of the database.</a:t>
            </a:r>
          </a:p>
          <a:p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Database instance </a:t>
            </a:r>
            <a:r>
              <a:rPr lang="en-US" altLang="en-US" sz="1700" dirty="0">
                <a:sym typeface="Symbol" panose="05050102010706020507" pitchFamily="18" charset="2"/>
              </a:rPr>
              <a:t>-- is a snapshot of the data in the database at a given instant in time. 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Example: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schema:   i</a:t>
            </a:r>
            <a:r>
              <a:rPr lang="en-US" altLang="en-US" sz="1700" i="1" dirty="0">
                <a:sym typeface="Symbol" panose="05050102010706020507" pitchFamily="18" charset="2"/>
              </a:rPr>
              <a:t>nstructor</a:t>
            </a:r>
            <a:r>
              <a:rPr lang="en-US" altLang="en-US" sz="1700" dirty="0">
                <a:sym typeface="Symbol" panose="05050102010706020507" pitchFamily="18" charset="2"/>
              </a:rPr>
              <a:t> (</a:t>
            </a:r>
            <a:r>
              <a:rPr lang="en-US" altLang="en-US" sz="1700" i="1" dirty="0">
                <a:sym typeface="Symbol" panose="05050102010706020507" pitchFamily="18" charset="2"/>
              </a:rPr>
              <a:t>ID, name, dept_name, salary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Instance: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D43850F-C798-4B0C-AB3F-7891AC78428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b="12197"/>
          <a:stretch/>
        </p:blipFill>
        <p:spPr>
          <a:xfrm>
            <a:off x="2589387" y="2909279"/>
            <a:ext cx="4483051" cy="35401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Keys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8865"/>
            <a:ext cx="7647680" cy="4896167"/>
          </a:xfrm>
        </p:spPr>
        <p:txBody>
          <a:bodyPr/>
          <a:lstStyle/>
          <a:p>
            <a:r>
              <a:rPr lang="en-US" altLang="en-US" sz="1700" dirty="0"/>
              <a:t>Let K </a:t>
            </a:r>
            <a:r>
              <a:rPr lang="en-US" altLang="en-US" sz="1700" dirty="0">
                <a:sym typeface="Symbol" panose="05050102010706020507" pitchFamily="18" charset="2"/>
              </a:rPr>
              <a:t> R</a:t>
            </a:r>
          </a:p>
          <a:p>
            <a:r>
              <a:rPr lang="en-US" altLang="en-US" sz="1700" i="1" dirty="0">
                <a:sym typeface="Symbol" panose="05050102010706020507" pitchFamily="18" charset="2"/>
              </a:rPr>
              <a:t>K </a:t>
            </a:r>
            <a:r>
              <a:rPr lang="en-US" altLang="en-US" sz="1700" dirty="0">
                <a:sym typeface="Symbol" panose="05050102010706020507" pitchFamily="18" charset="2"/>
              </a:rPr>
              <a:t>is a </a:t>
            </a:r>
            <a:r>
              <a:rPr lang="en-US" altLang="en-US" sz="1700" b="1" dirty="0" err="1">
                <a:solidFill>
                  <a:srgbClr val="002060"/>
                </a:solidFill>
                <a:sym typeface="Symbol" panose="05050102010706020507" pitchFamily="18" charset="2"/>
              </a:rPr>
              <a:t>superkey</a:t>
            </a:r>
            <a:r>
              <a:rPr lang="en-US" altLang="en-US" sz="1700" b="1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of 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 if values for </a:t>
            </a:r>
            <a:r>
              <a:rPr lang="en-US" altLang="en-US" sz="1700" i="1" dirty="0">
                <a:sym typeface="Symbol" panose="05050102010706020507" pitchFamily="18" charset="2"/>
              </a:rPr>
              <a:t>K</a:t>
            </a:r>
            <a:r>
              <a:rPr lang="en-US" altLang="en-US" sz="1700" dirty="0">
                <a:sym typeface="Symbol" panose="05050102010706020507" pitchFamily="18" charset="2"/>
              </a:rPr>
              <a:t> are sufficient to identify a unique tuple of each possible relation </a:t>
            </a:r>
            <a:r>
              <a:rPr lang="en-US" altLang="en-US" sz="1700" i="1" dirty="0">
                <a:sym typeface="Symbol" panose="05050102010706020507" pitchFamily="18" charset="2"/>
              </a:rPr>
              <a:t>r(R)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</a:p>
          <a:p>
            <a:pPr lvl="1">
              <a:lnSpc>
                <a:spcPct val="130000"/>
              </a:lnSpc>
            </a:pPr>
            <a:r>
              <a:rPr lang="en-US" altLang="en-US" sz="1700" dirty="0">
                <a:sym typeface="Symbol" panose="05050102010706020507" pitchFamily="18" charset="2"/>
              </a:rPr>
              <a:t>Example:  {</a:t>
            </a:r>
            <a:r>
              <a:rPr lang="en-US" altLang="en-US" sz="1700" i="1" dirty="0">
                <a:sym typeface="Symbol" panose="05050102010706020507" pitchFamily="18" charset="2"/>
              </a:rPr>
              <a:t>ID</a:t>
            </a:r>
            <a:r>
              <a:rPr lang="en-US" altLang="en-US" sz="1700" dirty="0">
                <a:sym typeface="Symbol" panose="05050102010706020507" pitchFamily="18" charset="2"/>
              </a:rPr>
              <a:t>} and {</a:t>
            </a:r>
            <a:r>
              <a:rPr lang="en-US" altLang="en-US" sz="1700" dirty="0" err="1">
                <a:sym typeface="Symbol" panose="05050102010706020507" pitchFamily="18" charset="2"/>
              </a:rPr>
              <a:t>ID,name</a:t>
            </a:r>
            <a:r>
              <a:rPr lang="en-US" altLang="en-US" sz="1700" dirty="0">
                <a:sym typeface="Symbol" panose="05050102010706020507" pitchFamily="18" charset="2"/>
              </a:rPr>
              <a:t>} are both </a:t>
            </a:r>
            <a:r>
              <a:rPr lang="en-US" altLang="en-US" sz="1700" dirty="0" err="1">
                <a:sym typeface="Symbol" panose="05050102010706020507" pitchFamily="18" charset="2"/>
              </a:rPr>
              <a:t>superkeys</a:t>
            </a:r>
            <a:r>
              <a:rPr lang="en-US" altLang="en-US" sz="1700" dirty="0">
                <a:sym typeface="Symbol" panose="05050102010706020507" pitchFamily="18" charset="2"/>
              </a:rPr>
              <a:t> of </a:t>
            </a:r>
            <a:r>
              <a:rPr lang="en-US" altLang="en-US" sz="1700" i="1" dirty="0">
                <a:sym typeface="Symbol" panose="05050102010706020507" pitchFamily="18" charset="2"/>
              </a:rPr>
              <a:t>instructor.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sz="1700" dirty="0" err="1">
                <a:sym typeface="Symbol" panose="05050102010706020507" pitchFamily="18" charset="2"/>
              </a:rPr>
              <a:t>Superkey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K</a:t>
            </a:r>
            <a:r>
              <a:rPr lang="en-US" altLang="en-US" sz="1700" dirty="0">
                <a:sym typeface="Symbol" panose="05050102010706020507" pitchFamily="18" charset="2"/>
              </a:rPr>
              <a:t> is a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candidate key</a:t>
            </a:r>
            <a:r>
              <a:rPr lang="en-US" altLang="en-US" sz="1700" dirty="0">
                <a:sym typeface="Symbol" panose="05050102010706020507" pitchFamily="18" charset="2"/>
              </a:rPr>
              <a:t> if </a:t>
            </a:r>
            <a:r>
              <a:rPr lang="en-US" altLang="en-US" sz="1700" i="1" dirty="0">
                <a:sym typeface="Symbol" panose="05050102010706020507" pitchFamily="18" charset="2"/>
              </a:rPr>
              <a:t>K</a:t>
            </a:r>
            <a:r>
              <a:rPr lang="en-US" altLang="en-US" sz="1700" dirty="0">
                <a:sym typeface="Symbol" panose="05050102010706020507" pitchFamily="18" charset="2"/>
              </a:rPr>
              <a:t> is minimal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Example:  {</a:t>
            </a:r>
            <a:r>
              <a:rPr lang="en-US" altLang="en-US" sz="1700" i="1" dirty="0">
                <a:sym typeface="Symbol" panose="05050102010706020507" pitchFamily="18" charset="2"/>
              </a:rPr>
              <a:t>ID</a:t>
            </a:r>
            <a:r>
              <a:rPr lang="en-US" altLang="en-US" sz="1700" dirty="0">
                <a:sym typeface="Symbol" panose="05050102010706020507" pitchFamily="18" charset="2"/>
              </a:rPr>
              <a:t>} is a candidate key for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sz="1700" dirty="0">
                <a:sym typeface="Symbol" panose="05050102010706020507" pitchFamily="18" charset="2"/>
              </a:rPr>
              <a:t>One of the candidate keys is selected to be the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primary key</a:t>
            </a:r>
            <a:r>
              <a:rPr lang="en-US" altLang="en-US" sz="1700" dirty="0">
                <a:sym typeface="Symbol" panose="05050102010706020507" pitchFamily="18" charset="2"/>
              </a:rPr>
              <a:t>.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sym typeface="Symbol" panose="05050102010706020507" pitchFamily="18" charset="2"/>
              </a:rPr>
              <a:t>W</a:t>
            </a:r>
            <a:r>
              <a:rPr lang="en-US" altLang="en-US" sz="1700" dirty="0">
                <a:sym typeface="Symbol" panose="05050102010706020507" pitchFamily="18" charset="2"/>
              </a:rPr>
              <a:t>hich one?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Foreign key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constraint: Value in one relation must appear in another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Referencing</a:t>
            </a:r>
            <a:r>
              <a:rPr lang="en-US" altLang="en-US" sz="1700" dirty="0"/>
              <a:t> relation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</a:rPr>
              <a:t>Referenced</a:t>
            </a:r>
            <a:r>
              <a:rPr lang="en-US" altLang="en-US" sz="1700" dirty="0"/>
              <a:t> relation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Example: </a:t>
            </a:r>
            <a:r>
              <a:rPr lang="en-US" altLang="en-US" sz="1700" i="1" dirty="0">
                <a:sym typeface="Symbol" panose="05050102010706020507" pitchFamily="18" charset="2"/>
              </a:rPr>
              <a:t>dept_name</a:t>
            </a:r>
            <a:r>
              <a:rPr lang="en-US" altLang="en-US" sz="1700" dirty="0">
                <a:sym typeface="Symbol" panose="05050102010706020507" pitchFamily="18" charset="2"/>
              </a:rPr>
              <a:t> in i</a:t>
            </a:r>
            <a:r>
              <a:rPr lang="en-US" altLang="en-US" sz="1700" i="1" dirty="0">
                <a:sym typeface="Symbol" panose="05050102010706020507" pitchFamily="18" charset="2"/>
              </a:rPr>
              <a:t>nstructor</a:t>
            </a:r>
            <a:r>
              <a:rPr lang="en-US" altLang="en-US" sz="1700" dirty="0">
                <a:sym typeface="Symbol" panose="05050102010706020507" pitchFamily="18" charset="2"/>
              </a:rPr>
              <a:t>  is a foreign key from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r>
              <a:rPr lang="en-US" altLang="en-US" sz="1700" dirty="0">
                <a:sym typeface="Symbol" panose="05050102010706020507" pitchFamily="18" charset="2"/>
              </a:rPr>
              <a:t> referencing </a:t>
            </a:r>
            <a:r>
              <a:rPr lang="en-US" altLang="en-US" sz="1700" i="1" dirty="0">
                <a:sym typeface="Symbol" panose="05050102010706020507" pitchFamily="18" charset="2"/>
              </a:rPr>
              <a:t>department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Schema Diagram for University Database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6B8FF63-5393-4696-8B56-06CDA84E9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002" y="1383738"/>
            <a:ext cx="8131996" cy="48719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Relational Query Languages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084263"/>
            <a:ext cx="7692069" cy="3555047"/>
          </a:xfrm>
        </p:spPr>
        <p:txBody>
          <a:bodyPr/>
          <a:lstStyle/>
          <a:p>
            <a:r>
              <a:rPr lang="en-US" altLang="en-US" sz="1700" dirty="0"/>
              <a:t>Procedural versus non-procedural, or declarative</a:t>
            </a:r>
          </a:p>
          <a:p>
            <a:r>
              <a:rPr lang="en-US" altLang="en-US" sz="1700" dirty="0"/>
              <a:t>“Pure” languages:</a:t>
            </a:r>
          </a:p>
          <a:p>
            <a:pPr lvl="1"/>
            <a:r>
              <a:rPr lang="en-US" altLang="en-US" sz="1700" dirty="0"/>
              <a:t>Relational algebra</a:t>
            </a:r>
          </a:p>
          <a:p>
            <a:pPr lvl="1"/>
            <a:r>
              <a:rPr lang="en-US" altLang="en-US" sz="1700" dirty="0"/>
              <a:t>Tuple relational calculus</a:t>
            </a:r>
          </a:p>
          <a:p>
            <a:pPr lvl="1"/>
            <a:r>
              <a:rPr lang="en-US" altLang="en-US" sz="1700" dirty="0"/>
              <a:t>Domain relational calculus</a:t>
            </a:r>
          </a:p>
          <a:p>
            <a:r>
              <a:rPr lang="en-US" altLang="en-US" sz="1700" dirty="0"/>
              <a:t>The above 3 pure languages are equivalent in computing power</a:t>
            </a:r>
          </a:p>
          <a:p>
            <a:r>
              <a:rPr lang="en-US" altLang="en-US" sz="1700" dirty="0"/>
              <a:t>We will concentrate in this chapter on relational algebra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Relational Algebra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558903" cy="4876800"/>
          </a:xfrm>
        </p:spPr>
        <p:txBody>
          <a:bodyPr/>
          <a:lstStyle/>
          <a:p>
            <a:r>
              <a:rPr lang="en-US" altLang="en-US" sz="1700" dirty="0"/>
              <a:t>An algebraic language consisting  of a set of operations that take one or two relations as input and produce a new relation as their result. </a:t>
            </a:r>
          </a:p>
          <a:p>
            <a:r>
              <a:rPr lang="en-US" altLang="en-US" sz="1700" dirty="0"/>
              <a:t>Six basic operators</a:t>
            </a:r>
          </a:p>
          <a:p>
            <a:pPr lvl="1"/>
            <a:r>
              <a:rPr lang="en-US" altLang="en-US" sz="1700" dirty="0"/>
              <a:t>select: </a:t>
            </a:r>
            <a:r>
              <a:rPr kumimoji="0" lang="en-US" altLang="en-US" sz="1700" dirty="0">
                <a:sym typeface="Symbol" panose="05050102010706020507" pitchFamily="18" charset="2"/>
              </a:rPr>
              <a:t></a:t>
            </a:r>
            <a:endParaRPr lang="en-US" altLang="en-US" sz="1700" dirty="0"/>
          </a:p>
          <a:p>
            <a:pPr lvl="1"/>
            <a:r>
              <a:rPr lang="en-US" altLang="en-US" sz="1700" dirty="0"/>
              <a:t>project: </a:t>
            </a:r>
            <a:r>
              <a:rPr lang="en-US" altLang="en-US" sz="1700" dirty="0">
                <a:sym typeface="Symbol" panose="05050102010706020507" pitchFamily="18" charset="2"/>
              </a:rPr>
              <a:t></a:t>
            </a:r>
            <a:endParaRPr lang="en-US" altLang="en-US" sz="1700" dirty="0"/>
          </a:p>
          <a:p>
            <a:pPr lvl="1"/>
            <a:r>
              <a:rPr lang="en-US" altLang="en-US" sz="1700" dirty="0"/>
              <a:t>union: </a:t>
            </a:r>
            <a:r>
              <a:rPr lang="en-US" altLang="en-US" sz="1700" dirty="0">
                <a:sym typeface="Symbol" panose="05050102010706020507" pitchFamily="18" charset="2"/>
              </a:rPr>
              <a:t></a:t>
            </a:r>
            <a:endParaRPr lang="en-US" altLang="en-US" sz="1700" dirty="0"/>
          </a:p>
          <a:p>
            <a:pPr lvl="1"/>
            <a:r>
              <a:rPr lang="en-US" altLang="en-US" sz="1700" dirty="0"/>
              <a:t>set difference: </a:t>
            </a:r>
            <a:r>
              <a:rPr lang="en-US" altLang="en-US" sz="1700" i="1" dirty="0"/>
              <a:t>–</a:t>
            </a:r>
            <a:r>
              <a:rPr lang="en-US" altLang="en-US" sz="1700" dirty="0"/>
              <a:t> </a:t>
            </a:r>
          </a:p>
          <a:p>
            <a:pPr lvl="1"/>
            <a:r>
              <a:rPr lang="en-US" altLang="en-US" sz="1700" dirty="0"/>
              <a:t>Cartesian product: x</a:t>
            </a:r>
          </a:p>
          <a:p>
            <a:pPr lvl="1"/>
            <a:r>
              <a:rPr lang="en-US" altLang="en-US" sz="1700" dirty="0"/>
              <a:t>rename: </a:t>
            </a:r>
            <a:r>
              <a:rPr lang="en-US" altLang="en-US" sz="1700" i="1" dirty="0">
                <a:sym typeface="Symbol" panose="05050102010706020507" pitchFamily="18" charset="2"/>
              </a:rPr>
              <a:t></a:t>
            </a:r>
          </a:p>
          <a:p>
            <a:pPr lvl="1"/>
            <a:endParaRPr lang="en-US" altLang="en-US" sz="2000" i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53" y="966181"/>
            <a:ext cx="7612170" cy="2462819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/>
              <a:t>The  </a:t>
            </a:r>
            <a:r>
              <a:rPr lang="en-US" altLang="en-US" sz="1700" b="1" dirty="0"/>
              <a:t>selec</a:t>
            </a:r>
            <a:r>
              <a:rPr lang="en-US" altLang="en-US" sz="1700" dirty="0"/>
              <a:t>t operation selects tuples that satisfy a given predicate.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/>
              <a:t>Notation: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p </a:t>
            </a:r>
            <a:r>
              <a:rPr lang="en-US" altLang="en-US" sz="1700" dirty="0">
                <a:sym typeface="Symbol" panose="05050102010706020507" pitchFamily="18" charset="2"/>
              </a:rPr>
              <a:t>(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p</a:t>
            </a:r>
            <a:r>
              <a:rPr lang="en-US" altLang="en-US" sz="1700" dirty="0">
                <a:sym typeface="Symbol" panose="05050102010706020507" pitchFamily="18" charset="2"/>
              </a:rPr>
              <a:t> is called the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selection predicate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Example: select those tuples of the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r>
              <a:rPr lang="en-US" altLang="en-US" sz="1700" dirty="0">
                <a:sym typeface="Symbol" panose="05050102010706020507" pitchFamily="18" charset="2"/>
              </a:rPr>
              <a:t>  relation where the instructor is in the “Physics” department.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Query</a:t>
            </a:r>
          </a:p>
          <a:p>
            <a:pPr marL="457200" lvl="1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	</a:t>
            </a:r>
            <a:r>
              <a:rPr lang="en-US" altLang="en-US" sz="1900" i="1" dirty="0">
                <a:sym typeface="Symbol" panose="05050102010706020507" pitchFamily="18" charset="2"/>
              </a:rPr>
              <a:t></a:t>
            </a:r>
            <a:r>
              <a:rPr lang="en-US" altLang="en-US" sz="1900" dirty="0">
                <a:sym typeface="Symbol" panose="05050102010706020507" pitchFamily="18" charset="2"/>
              </a:rPr>
              <a:t> 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19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900" i="1" baseline="-25000" dirty="0">
                <a:sym typeface="Symbol" panose="05050102010706020507" pitchFamily="18" charset="2"/>
              </a:rPr>
              <a:t>Physics”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  <a:endParaRPr lang="en-US" altLang="en-US" sz="800" dirty="0">
              <a:sym typeface="Symbol" panose="05050102010706020507" pitchFamily="18" charset="2"/>
            </a:endParaRPr>
          </a:p>
          <a:p>
            <a:pPr marL="457200" lvl="1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                                                 </a:t>
            </a:r>
          </a:p>
          <a:p>
            <a:pPr marL="457200" lvl="1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                                                                      </a:t>
            </a:r>
            <a:endParaRPr lang="en-US" altLang="en-US" sz="1700" b="1" dirty="0">
              <a:sym typeface="Symbol" panose="05050102010706020507" pitchFamily="18" charset="2"/>
            </a:endParaRPr>
          </a:p>
        </p:txBody>
      </p:sp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Select Operation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0EA259D-031F-4208-A7F2-A15AE51650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31858"/>
          <a:stretch/>
        </p:blipFill>
        <p:spPr>
          <a:xfrm>
            <a:off x="4288017" y="4479908"/>
            <a:ext cx="4932139" cy="122313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2451228-C4A0-4098-B1BE-3ABB5C8680C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-1" b="12197"/>
          <a:stretch/>
        </p:blipFill>
        <p:spPr>
          <a:xfrm>
            <a:off x="0" y="3546337"/>
            <a:ext cx="3913411" cy="30902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0EBADB-F658-DB77-1554-BC04BB2011C1}"/>
              </a:ext>
            </a:extLst>
          </p:cNvPr>
          <p:cNvSpPr txBox="1"/>
          <p:nvPr/>
        </p:nvSpPr>
        <p:spPr>
          <a:xfrm>
            <a:off x="6213763" y="3865418"/>
            <a:ext cx="18599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>
                <a:sym typeface="Symbol" panose="05050102010706020507" pitchFamily="18" charset="2"/>
              </a:rPr>
              <a:t>Result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Select Operation (Cont.)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8873"/>
            <a:ext cx="7656559" cy="481082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We allow comparisons using 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              =, , &gt;, . &lt;. 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in the selection predicate.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We can combine several predicates into a larger predicate by using the connectives:</a:t>
            </a:r>
          </a:p>
          <a:p>
            <a:pPr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             (</a:t>
            </a:r>
            <a:r>
              <a:rPr lang="en-US" altLang="en-US" sz="1700" b="1" dirty="0">
                <a:sym typeface="Symbol" panose="05050102010706020507" pitchFamily="18" charset="2"/>
              </a:rPr>
              <a:t>and</a:t>
            </a:r>
            <a:r>
              <a:rPr lang="en-US" altLang="en-US" sz="1700" dirty="0">
                <a:sym typeface="Symbol" panose="05050102010706020507" pitchFamily="18" charset="2"/>
              </a:rPr>
              <a:t>),  (</a:t>
            </a:r>
            <a:r>
              <a:rPr lang="en-US" altLang="en-US" sz="1700" b="1" dirty="0">
                <a:sym typeface="Symbol" panose="05050102010706020507" pitchFamily="18" charset="2"/>
              </a:rPr>
              <a:t>or</a:t>
            </a:r>
            <a:r>
              <a:rPr lang="en-US" altLang="en-US" sz="1700" dirty="0">
                <a:sym typeface="Symbol" panose="05050102010706020507" pitchFamily="18" charset="2"/>
              </a:rPr>
              <a:t>),  (</a:t>
            </a:r>
            <a:r>
              <a:rPr lang="en-US" altLang="en-US" sz="1700" b="1" dirty="0">
                <a:sym typeface="Symbol" panose="05050102010706020507" pitchFamily="18" charset="2"/>
              </a:rPr>
              <a:t>not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Example: Find the instructors in Physics with a salary greater $90,000, we write:</a:t>
            </a:r>
          </a:p>
          <a:p>
            <a:pPr marL="0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en-US" dirty="0">
                <a:sym typeface="Symbol" panose="05050102010706020507" pitchFamily="18" charset="2"/>
              </a:rPr>
              <a:t></a:t>
            </a:r>
            <a:r>
              <a:rPr lang="ja-JP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salary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&gt;</a:t>
            </a:r>
            <a:r>
              <a:rPr lang="en-US" altLang="ja-JP" sz="1700" i="1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90,000</a:t>
            </a:r>
            <a:r>
              <a:rPr lang="en-US" altLang="ja-JP" sz="1700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marL="0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ja-JP" sz="800" i="1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select predicate may  include comparisons between two attributes. 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Example, find all departments whose name is the same as their building name: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900" i="1" dirty="0">
                <a:sym typeface="Symbol" panose="05050102010706020507" pitchFamily="18" charset="2"/>
              </a:rPr>
              <a:t></a:t>
            </a:r>
            <a:r>
              <a:rPr lang="en-US" altLang="en-US" sz="1900" dirty="0">
                <a:sym typeface="Symbol" panose="05050102010706020507" pitchFamily="18" charset="2"/>
              </a:rPr>
              <a:t> 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dept_name=</a:t>
            </a:r>
            <a:r>
              <a:rPr lang="en-US" altLang="ja-JP" sz="1900" i="1" baseline="-25000" dirty="0">
                <a:sym typeface="Symbol" panose="05050102010706020507" pitchFamily="18" charset="2"/>
              </a:rPr>
              <a:t>building</a:t>
            </a:r>
            <a:r>
              <a:rPr lang="en-US" altLang="ja-JP" sz="1900" i="1" dirty="0">
                <a:sym typeface="Symbol" panose="05050102010706020507" pitchFamily="18" charset="2"/>
              </a:rPr>
              <a:t> </a:t>
            </a:r>
            <a:r>
              <a:rPr lang="ja-JP" altLang="en-US" sz="19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department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  <a:endParaRPr lang="en-US" altLang="en-US" sz="17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50831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Project Operation Example</a:t>
            </a:r>
          </a:p>
        </p:txBody>
      </p:sp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4"/>
            <a:ext cx="7912353" cy="1218478"/>
          </a:xfrm>
        </p:spPr>
        <p:txBody>
          <a:bodyPr/>
          <a:lstStyle/>
          <a:p>
            <a:pPr>
              <a:tabLst>
                <a:tab pos="3257550" algn="ctr"/>
              </a:tabLst>
            </a:pPr>
            <a:r>
              <a:rPr lang="en-US" altLang="en-US" sz="1700" dirty="0"/>
              <a:t>Example: eliminate the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attribute of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3257550" algn="ctr"/>
              </a:tabLst>
            </a:pPr>
            <a:r>
              <a:rPr lang="en-US" altLang="en-US" sz="1700" dirty="0"/>
              <a:t>Query</a:t>
            </a:r>
            <a:r>
              <a:rPr lang="en-US" altLang="en-US" sz="1700" i="1" dirty="0"/>
              <a:t>: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  <a:br>
              <a:rPr lang="en-US" altLang="en-US" sz="1700" dirty="0"/>
            </a:br>
            <a:r>
              <a:rPr lang="en-US" altLang="en-US" sz="1700" dirty="0"/>
              <a:t>         	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/>
              <a:t>ID, name, salary</a:t>
            </a:r>
            <a:r>
              <a:rPr lang="en-US" altLang="en-US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8A827ED-B175-4A55-B05F-235A354E778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9823"/>
          <a:stretch/>
        </p:blipFill>
        <p:spPr>
          <a:xfrm>
            <a:off x="4304453" y="2695944"/>
            <a:ext cx="4341298" cy="386072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06F03F5-EEB3-4734-AF97-8A665F30C48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-1" b="12197"/>
          <a:stretch/>
        </p:blipFill>
        <p:spPr>
          <a:xfrm>
            <a:off x="109913" y="2774373"/>
            <a:ext cx="4550077" cy="35930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C1F8A4-0927-1AAE-EBA2-3FC4F096FCF0}"/>
              </a:ext>
            </a:extLst>
          </p:cNvPr>
          <p:cNvSpPr txBox="1"/>
          <p:nvPr/>
        </p:nvSpPr>
        <p:spPr>
          <a:xfrm>
            <a:off x="5216237" y="2366105"/>
            <a:ext cx="26496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>
                <a:sym typeface="Symbol" panose="05050102010706020507" pitchFamily="18" charset="2"/>
              </a:rPr>
              <a:t>Result </a:t>
            </a:r>
            <a:r>
              <a:rPr lang="en-US" altLang="en-US" dirty="0">
                <a:sym typeface="Symbol" panose="05050102010706020507" pitchFamily="18" charset="2"/>
              </a:rPr>
              <a:t>(order is irrelevant)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Project Operation</a:t>
            </a:r>
          </a:p>
        </p:txBody>
      </p:sp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83192" cy="4876800"/>
          </a:xfrm>
        </p:spPr>
        <p:txBody>
          <a:bodyPr/>
          <a:lstStyle/>
          <a:p>
            <a:pPr>
              <a:lnSpc>
                <a:spcPct val="120000"/>
              </a:lnSpc>
              <a:tabLst>
                <a:tab pos="3257550" algn="ctr"/>
              </a:tabLst>
            </a:pPr>
            <a:r>
              <a:rPr lang="en-US" altLang="en-US" sz="1700" dirty="0"/>
              <a:t>A unary operation that returns its argument relation, with certain attributes left out.  </a:t>
            </a:r>
          </a:p>
          <a:p>
            <a:pPr>
              <a:lnSpc>
                <a:spcPct val="120000"/>
              </a:lnSpc>
              <a:tabLst>
                <a:tab pos="3257550" algn="ctr"/>
              </a:tabLst>
            </a:pPr>
            <a:r>
              <a:rPr lang="en-US" altLang="en-US" sz="1700" dirty="0"/>
              <a:t>Notation:</a:t>
            </a:r>
          </a:p>
          <a:p>
            <a:pPr>
              <a:lnSpc>
                <a:spcPct val="120000"/>
              </a:lnSpc>
              <a:buNone/>
              <a:tabLst>
                <a:tab pos="3257550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          </a:t>
            </a:r>
            <a:r>
              <a:rPr lang="en-US" altLang="en-US" i="1" baseline="-25000" dirty="0">
                <a:sym typeface="Symbol" panose="05050102010706020507" pitchFamily="18" charset="2"/>
              </a:rPr>
              <a:t>A</a:t>
            </a:r>
            <a:r>
              <a:rPr lang="en-US" altLang="en-US" i="1" baseline="-50000" dirty="0">
                <a:sym typeface="Symbol" panose="05050102010706020507" pitchFamily="18" charset="2"/>
              </a:rPr>
              <a:t>1</a:t>
            </a:r>
            <a:r>
              <a:rPr lang="en-US" altLang="en-US" i="1" baseline="-25000" dirty="0">
                <a:sym typeface="Symbol" panose="05050102010706020507" pitchFamily="18" charset="2"/>
              </a:rPr>
              <a:t>,A</a:t>
            </a:r>
            <a:r>
              <a:rPr lang="en-US" altLang="en-US" i="1" baseline="-50000" dirty="0">
                <a:sym typeface="Symbol" panose="05050102010706020507" pitchFamily="18" charset="2"/>
              </a:rPr>
              <a:t>2</a:t>
            </a:r>
            <a:r>
              <a:rPr lang="en-US" altLang="en-US" i="1" baseline="-25000" dirty="0">
                <a:sym typeface="Symbol" panose="05050102010706020507" pitchFamily="18" charset="2"/>
              </a:rPr>
              <a:t>,A</a:t>
            </a:r>
            <a:r>
              <a:rPr lang="en-US" altLang="en-US" i="1" baseline="-50000" dirty="0">
                <a:sym typeface="Symbol" panose="05050102010706020507" pitchFamily="18" charset="2"/>
              </a:rPr>
              <a:t>3</a:t>
            </a:r>
            <a:r>
              <a:rPr lang="en-US" altLang="en-US" i="1" baseline="-25000" dirty="0">
                <a:sym typeface="Symbol" panose="05050102010706020507" pitchFamily="18" charset="2"/>
              </a:rPr>
              <a:t> ….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A</a:t>
            </a:r>
            <a:r>
              <a:rPr lang="en-US" altLang="en-US" i="1" baseline="-50000" dirty="0" err="1">
                <a:sym typeface="Symbol" panose="05050102010706020507" pitchFamily="18" charset="2"/>
              </a:rPr>
              <a:t>k</a:t>
            </a:r>
            <a:r>
              <a:rPr lang="en-US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en-US" baseline="-25000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  <a:r>
              <a:rPr lang="en-US" altLang="en-US" sz="1700" dirty="0">
                <a:solidFill>
                  <a:schemeClr val="bg1">
                    <a:lumMod val="50000"/>
                  </a:schemeClr>
                </a:solidFill>
              </a:rPr>
              <a:t>	</a:t>
            </a:r>
          </a:p>
          <a:p>
            <a:pPr>
              <a:lnSpc>
                <a:spcPct val="120000"/>
              </a:lnSpc>
              <a:buFont typeface="Monotype Sorts" charset="2"/>
              <a:buNone/>
              <a:tabLst>
                <a:tab pos="3257550" algn="ctr"/>
              </a:tabLst>
            </a:pPr>
            <a:r>
              <a:rPr lang="en-US" altLang="en-US" sz="1700" dirty="0"/>
              <a:t>	where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1</a:t>
            </a:r>
            <a:r>
              <a:rPr lang="en-US" altLang="en-US" sz="1700" i="1" dirty="0"/>
              <a:t>, A</a:t>
            </a:r>
            <a:r>
              <a:rPr lang="en-US" altLang="en-US" sz="1700" i="1" baseline="-25000" dirty="0"/>
              <a:t>2</a:t>
            </a:r>
            <a:r>
              <a:rPr lang="en-US" altLang="en-US" sz="1700" dirty="0"/>
              <a:t>,  …, </a:t>
            </a:r>
            <a:r>
              <a:rPr lang="en-US" altLang="en-US" i="1" dirty="0" err="1"/>
              <a:t>A</a:t>
            </a:r>
            <a:r>
              <a:rPr lang="en-US" altLang="en-US" i="1" baseline="-25000" dirty="0" err="1"/>
              <a:t>k</a:t>
            </a:r>
            <a:r>
              <a:rPr lang="en-US" altLang="en-US" sz="1700" dirty="0"/>
              <a:t>  are attribute names and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a relation name.</a:t>
            </a:r>
          </a:p>
          <a:p>
            <a:pPr>
              <a:tabLst>
                <a:tab pos="3257550" algn="ctr"/>
              </a:tabLst>
            </a:pPr>
            <a:r>
              <a:rPr lang="en-US" altLang="en-US" sz="1700" dirty="0"/>
              <a:t>The result is defined as the relation of </a:t>
            </a:r>
            <a:r>
              <a:rPr lang="en-US" altLang="en-US" sz="1700" i="1" dirty="0"/>
              <a:t>k</a:t>
            </a:r>
            <a:r>
              <a:rPr lang="en-US" altLang="en-US" sz="1700" dirty="0"/>
              <a:t> columns obtained by erasing the columns that are not listed</a:t>
            </a:r>
          </a:p>
          <a:p>
            <a:pPr>
              <a:tabLst>
                <a:tab pos="3257550" algn="ctr"/>
              </a:tabLst>
            </a:pPr>
            <a:r>
              <a:rPr lang="en-US" altLang="en-US" sz="1700" b="1" dirty="0"/>
              <a:t>Duplicate rows removed from result</a:t>
            </a:r>
            <a:r>
              <a:rPr lang="en-US" altLang="en-US" sz="1700" dirty="0"/>
              <a:t>, since relations are sets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Composition of Relational Operations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42035"/>
            <a:ext cx="7558786" cy="3720109"/>
          </a:xfrm>
        </p:spPr>
        <p:txBody>
          <a:bodyPr/>
          <a:lstStyle/>
          <a:p>
            <a:r>
              <a:rPr lang="en-US" altLang="en-US" sz="1700" dirty="0"/>
              <a:t>The result of a relational-algebra operation is relation  and therefore of relational-algebra operations can be composed together into a </a:t>
            </a:r>
            <a:r>
              <a:rPr lang="en-US" altLang="en-US" sz="1700" b="1" dirty="0"/>
              <a:t>relational-algebra expression</a:t>
            </a:r>
            <a:r>
              <a:rPr lang="en-US" altLang="en-US" sz="1700" dirty="0"/>
              <a:t>.</a:t>
            </a:r>
          </a:p>
          <a:p>
            <a:r>
              <a:rPr lang="en-US" altLang="en-US" sz="1700" dirty="0"/>
              <a:t>Consider  the query -- Find the names of all instructors in the Physics department.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     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>
                <a:sym typeface="Symbol" panose="05050102010706020507" pitchFamily="18" charset="2"/>
              </a:rPr>
              <a:t>name</a:t>
            </a:r>
            <a:r>
              <a:rPr lang="en-US" altLang="en-US" dirty="0"/>
              <a:t>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Instead of giving the name of a relation as the argument of the projection operation, we give an expression that evaluates to a relation.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Cartesian-Product Operation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5721"/>
            <a:ext cx="7709825" cy="4876800"/>
          </a:xfrm>
        </p:spPr>
        <p:txBody>
          <a:bodyPr/>
          <a:lstStyle/>
          <a:p>
            <a:pPr>
              <a:tabLst>
                <a:tab pos="3149600" algn="ctr"/>
              </a:tabLst>
            </a:pPr>
            <a:r>
              <a:rPr lang="en-US" altLang="en-US" sz="1700" dirty="0"/>
              <a:t>The Cartesian-product operation (denoted by X)  allows us to combine information from any two relations.  </a:t>
            </a:r>
          </a:p>
          <a:p>
            <a:pPr>
              <a:tabLst>
                <a:tab pos="3149600" algn="ctr"/>
              </a:tabLst>
            </a:pPr>
            <a:r>
              <a:rPr lang="en-US" altLang="en-US" sz="1700" dirty="0"/>
              <a:t>Example: the Cartesian product of the relations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t</a:t>
            </a:r>
            <a:r>
              <a:rPr lang="en-US" altLang="en-US" sz="1700" i="1" dirty="0"/>
              <a:t>eaches</a:t>
            </a:r>
            <a:r>
              <a:rPr lang="en-US" altLang="en-US" sz="1700" dirty="0"/>
              <a:t> is written  as:</a:t>
            </a:r>
          </a:p>
          <a:p>
            <a:pPr>
              <a:buNone/>
              <a:tabLst>
                <a:tab pos="3149600" algn="ctr"/>
              </a:tabLst>
            </a:pPr>
            <a:r>
              <a:rPr lang="en-US" altLang="en-US" sz="1700" i="1" dirty="0"/>
              <a:t>                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</a:p>
          <a:p>
            <a:pPr>
              <a:tabLst>
                <a:tab pos="3149600" algn="ctr"/>
              </a:tabLst>
            </a:pPr>
            <a:r>
              <a:rPr lang="en-US" altLang="en-US" sz="1700" dirty="0"/>
              <a:t>We construct a tuple of the result out of each possible pair of tuples: one from the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relation and one from the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 relation (see next slide)</a:t>
            </a:r>
          </a:p>
          <a:p>
            <a:pPr>
              <a:tabLst>
                <a:tab pos="3149600" algn="ctr"/>
              </a:tabLst>
            </a:pPr>
            <a:r>
              <a:rPr lang="en-US" altLang="en-US" sz="1700" dirty="0"/>
              <a:t>Since the instructor</a:t>
            </a:r>
            <a:r>
              <a:rPr lang="en-US" altLang="en-US" sz="1700" i="1" dirty="0"/>
              <a:t> ID </a:t>
            </a:r>
            <a:r>
              <a:rPr lang="en-US" altLang="en-US" sz="1700" dirty="0"/>
              <a:t>appears in both relations we distinguish between these attribute by attaching to the attribute the name of the relation from which the attribute originally came.</a:t>
            </a:r>
          </a:p>
          <a:p>
            <a:pPr lvl="1">
              <a:tabLst>
                <a:tab pos="3149600" algn="ctr"/>
              </a:tabLst>
            </a:pPr>
            <a:r>
              <a:rPr lang="en-US" altLang="en-US" sz="1700" i="1" dirty="0"/>
              <a:t>instructor.ID</a:t>
            </a:r>
          </a:p>
          <a:p>
            <a:pPr lvl="1">
              <a:tabLst>
                <a:tab pos="3149600" algn="ctr"/>
              </a:tabLst>
            </a:pPr>
            <a:r>
              <a:rPr lang="en-US" altLang="en-US" sz="1700" i="1" dirty="0"/>
              <a:t>teaches.ID</a:t>
            </a:r>
          </a:p>
          <a:p>
            <a:pPr lvl="1">
              <a:tabLst>
                <a:tab pos="3149600" algn="ctr"/>
              </a:tabLst>
            </a:pPr>
            <a:endParaRPr lang="en-US" altLang="en-US" dirty="0"/>
          </a:p>
          <a:p>
            <a:pPr>
              <a:buNone/>
              <a:tabLst>
                <a:tab pos="3149600" algn="ctr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</a:t>
            </a:r>
            <a:r>
              <a:rPr lang="en-US" altLang="en-US" sz="2800" i="1" dirty="0"/>
              <a:t>  instructor</a:t>
            </a:r>
            <a:r>
              <a:rPr lang="en-US" altLang="en-US" sz="2800" dirty="0"/>
              <a:t>  </a:t>
            </a:r>
            <a:r>
              <a:rPr lang="en-US" altLang="en-US" sz="2400" dirty="0"/>
              <a:t>X</a:t>
            </a:r>
            <a:r>
              <a:rPr lang="en-US" altLang="en-US" sz="2800" dirty="0"/>
              <a:t>  </a:t>
            </a:r>
            <a:r>
              <a:rPr lang="en-US" altLang="en-US" sz="2800" i="1" dirty="0"/>
              <a:t>teaches  table</a:t>
            </a:r>
            <a:endParaRPr lang="en-US" altLang="en-US" sz="28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25A146-DF78-4629-A7BE-AFD7754271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2" b="6551"/>
          <a:stretch/>
        </p:blipFill>
        <p:spPr>
          <a:xfrm>
            <a:off x="1669591" y="727075"/>
            <a:ext cx="5459492" cy="596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3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6681"/>
            <a:ext cx="7631938" cy="4664519"/>
          </a:xfrm>
        </p:spPr>
        <p:txBody>
          <a:bodyPr/>
          <a:lstStyle/>
          <a:p>
            <a:pPr>
              <a:tabLst>
                <a:tab pos="3149600" algn="ctr"/>
              </a:tabLst>
            </a:pPr>
            <a:r>
              <a:rPr lang="en-US" altLang="en-US" sz="1700" dirty="0"/>
              <a:t>The Cartesian-Product </a:t>
            </a:r>
          </a:p>
          <a:p>
            <a:pPr>
              <a:buNone/>
              <a:tabLst>
                <a:tab pos="3149600" algn="ctr"/>
              </a:tabLst>
            </a:pPr>
            <a:r>
              <a:rPr lang="en-US" altLang="en-US" sz="1700" i="1" dirty="0"/>
              <a:t>                    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  <a:endParaRPr lang="en-US" altLang="en-US" sz="1700" dirty="0"/>
          </a:p>
          <a:p>
            <a:pPr>
              <a:buNone/>
              <a:tabLst>
                <a:tab pos="3149600" algn="ctr"/>
              </a:tabLst>
            </a:pPr>
            <a:r>
              <a:rPr lang="en-US" altLang="en-US" sz="1700" dirty="0"/>
              <a:t>      associates every  tuple of  instructor with every tuple of teaches.</a:t>
            </a:r>
          </a:p>
          <a:p>
            <a:pPr lvl="1"/>
            <a:r>
              <a:rPr lang="en-US" altLang="en-US" sz="1700" dirty="0"/>
              <a:t>Most of the resulting rows have information about instructors who did NOT teach a particular course. </a:t>
            </a:r>
          </a:p>
          <a:p>
            <a:r>
              <a:rPr lang="en-US" altLang="en-US" sz="1700" dirty="0"/>
              <a:t>To get only those tuples of  “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 “ that pertain to instructors and the courses that they taught, we write:</a:t>
            </a:r>
          </a:p>
          <a:p>
            <a:pPr>
              <a:buNone/>
            </a:pPr>
            <a:r>
              <a:rPr lang="en-US" altLang="en-US" sz="1700" dirty="0">
                <a:solidFill>
                  <a:schemeClr val="bg1">
                    <a:lumMod val="50000"/>
                  </a:schemeClr>
                </a:solidFill>
                <a:sym typeface="Symbol" panose="05050102010706020507" pitchFamily="18" charset="2"/>
              </a:rPr>
              <a:t> 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instructor.id =  teaches.id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  </a:t>
            </a:r>
            <a:r>
              <a:rPr lang="en-US" altLang="ja-JP" sz="1700" dirty="0">
                <a:sym typeface="Symbol" panose="05050102010706020507" pitchFamily="18" charset="2"/>
              </a:rPr>
              <a:t>x</a:t>
            </a:r>
            <a:r>
              <a:rPr lang="en-US" altLang="ja-JP" sz="1700" i="1" dirty="0">
                <a:sym typeface="Symbol" panose="05050102010706020507" pitchFamily="18" charset="2"/>
              </a:rPr>
              <a:t> teaches 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 lvl="1"/>
            <a:r>
              <a:rPr lang="en-US" altLang="ja-JP" sz="1700" dirty="0">
                <a:sym typeface="Symbol" panose="05050102010706020507" pitchFamily="18" charset="2"/>
              </a:rPr>
              <a:t>We get only those tuples of “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 X  </a:t>
            </a:r>
            <a:r>
              <a:rPr lang="en-US" altLang="en-US" sz="1700" i="1" dirty="0"/>
              <a:t>teaches” </a:t>
            </a:r>
            <a:r>
              <a:rPr lang="en-US" altLang="ja-JP" sz="1700" dirty="0">
                <a:sym typeface="Symbol" panose="05050102010706020507" pitchFamily="18" charset="2"/>
              </a:rPr>
              <a:t>that pertain to instructors and the courses that they taught.</a:t>
            </a:r>
          </a:p>
          <a:p>
            <a:r>
              <a:rPr lang="en-US" altLang="ja-JP" sz="1700" dirty="0">
                <a:sym typeface="Symbol" panose="05050102010706020507" pitchFamily="18" charset="2"/>
              </a:rPr>
              <a:t>The result of this expression, shown in the next slide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 (Cont.)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77913"/>
            <a:ext cx="7436866" cy="848423"/>
          </a:xfrm>
        </p:spPr>
        <p:txBody>
          <a:bodyPr/>
          <a:lstStyle/>
          <a:p>
            <a:r>
              <a:rPr lang="en-US" altLang="en-US" sz="1700" dirty="0"/>
              <a:t>The</a:t>
            </a:r>
            <a:r>
              <a:rPr lang="en-US" altLang="en-US" sz="1700" dirty="0">
                <a:sym typeface="Symbol" panose="05050102010706020507" pitchFamily="18" charset="2"/>
              </a:rPr>
              <a:t>  table corresponding to:</a:t>
            </a:r>
          </a:p>
          <a:p>
            <a:pPr>
              <a:buNone/>
            </a:pPr>
            <a:r>
              <a:rPr lang="en-US" altLang="en-US" sz="1700" i="1" dirty="0">
                <a:solidFill>
                  <a:schemeClr val="bg1">
                    <a:lumMod val="50000"/>
                  </a:schemeClr>
                </a:solidFill>
                <a:sym typeface="Symbol" panose="05050102010706020507" pitchFamily="18" charset="2"/>
              </a:rPr>
              <a:t> 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instructor.id =  teaches.id</a:t>
            </a:r>
            <a:r>
              <a:rPr lang="en-US" altLang="ja-JP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  </a:t>
            </a:r>
            <a:r>
              <a:rPr lang="en-US" altLang="ja-JP" sz="1700" dirty="0">
                <a:sym typeface="Symbol" panose="05050102010706020507" pitchFamily="18" charset="2"/>
              </a:rPr>
              <a:t>x</a:t>
            </a:r>
            <a:r>
              <a:rPr lang="en-US" altLang="ja-JP" sz="1700" i="1" dirty="0">
                <a:sym typeface="Symbol" panose="05050102010706020507" pitchFamily="18" charset="2"/>
              </a:rPr>
              <a:t> teaches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  <a:r>
              <a:rPr lang="en-US" altLang="en-US" sz="1700" dirty="0"/>
              <a:t> </a:t>
            </a:r>
          </a:p>
          <a:p>
            <a:pPr>
              <a:buNone/>
            </a:pPr>
            <a:endParaRPr lang="en-US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4514E8B-ADB7-4B47-B765-99E7784E86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b="12878"/>
          <a:stretch/>
        </p:blipFill>
        <p:spPr>
          <a:xfrm>
            <a:off x="938783" y="1926336"/>
            <a:ext cx="7416310" cy="41345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Join Operation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8350" y="1138873"/>
                <a:ext cx="7644131" cy="4823015"/>
              </a:xfrm>
            </p:spPr>
            <p:txBody>
              <a:bodyPr/>
              <a:lstStyle/>
              <a:p>
                <a:pPr>
                  <a:tabLst>
                    <a:tab pos="3149600" algn="ctr"/>
                  </a:tabLst>
                </a:pPr>
                <a:r>
                  <a:rPr lang="en-US" altLang="en-US" sz="1700" dirty="0"/>
                  <a:t>The </a:t>
                </a:r>
                <a:r>
                  <a:rPr lang="en-US" altLang="en-US" sz="1700" b="1" dirty="0"/>
                  <a:t>join </a:t>
                </a:r>
                <a:r>
                  <a:rPr lang="en-US" altLang="en-US" sz="1700" dirty="0"/>
                  <a:t>operation allows us to combine  a select operation and a  </a:t>
                </a:r>
                <a:r>
                  <a:rPr lang="en-US" altLang="en-US" sz="1700" b="1" dirty="0"/>
                  <a:t> </a:t>
                </a:r>
                <a:r>
                  <a:rPr lang="en-US" altLang="en-US" sz="1700" dirty="0"/>
                  <a:t>Cartesian-Product  operation into a single operation.</a:t>
                </a:r>
              </a:p>
              <a:p>
                <a:pPr>
                  <a:tabLst>
                    <a:tab pos="3149600" algn="ctr"/>
                  </a:tabLst>
                </a:pPr>
                <a:r>
                  <a:rPr lang="en-US" altLang="en-US" sz="1700" dirty="0"/>
                  <a:t>Consider relations </a:t>
                </a:r>
                <a:r>
                  <a:rPr lang="en-US" altLang="en-US" sz="1700" i="1" dirty="0"/>
                  <a:t>r </a:t>
                </a:r>
                <a:r>
                  <a:rPr lang="en-US" altLang="en-US" sz="1700" dirty="0"/>
                  <a:t>(</a:t>
                </a:r>
                <a:r>
                  <a:rPr lang="en-US" altLang="en-US" sz="1700" i="1" dirty="0"/>
                  <a:t>R</a:t>
                </a:r>
                <a:r>
                  <a:rPr lang="en-US" altLang="en-US" sz="1700" dirty="0"/>
                  <a:t>) and </a:t>
                </a:r>
                <a:r>
                  <a:rPr lang="en-US" altLang="en-US" sz="1700" i="1" dirty="0"/>
                  <a:t>s </a:t>
                </a:r>
                <a:r>
                  <a:rPr lang="en-US" altLang="en-US" sz="1700" dirty="0"/>
                  <a:t>(</a:t>
                </a:r>
                <a:r>
                  <a:rPr lang="en-US" altLang="en-US" sz="1700" i="1" dirty="0"/>
                  <a:t>S</a:t>
                </a:r>
                <a:r>
                  <a:rPr lang="en-US" altLang="en-US" sz="1700" dirty="0"/>
                  <a:t>)</a:t>
                </a:r>
              </a:p>
              <a:p>
                <a:r>
                  <a:rPr lang="en-US" altLang="en-US" sz="1700" dirty="0"/>
                  <a:t>Let  “theta” be a predicate on attributes in the schema R “union” S. The join operation  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altLang="en-US" sz="1700" dirty="0"/>
                  <a:t> s is defined as follows:</a:t>
                </a:r>
              </a:p>
              <a:p>
                <a:pPr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</a:t>
                </a:r>
                <a:r>
                  <a:rPr lang="en-US" altLang="en-US" sz="1700" dirty="0"/>
                  <a:t>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dirty="0">
                  <a:sym typeface="Symbol" panose="05050102010706020507" pitchFamily="18" charset="2"/>
                </a:endParaRPr>
              </a:p>
              <a:p>
                <a:pPr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ja-JP" sz="1700" dirty="0">
                    <a:sym typeface="Symbol" panose="05050102010706020507" pitchFamily="18" charset="2"/>
                  </a:rPr>
                  <a:t>Thus</a:t>
                </a:r>
              </a:p>
              <a:p>
                <a:pPr marL="0" indent="0"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        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dirty="0">
                    <a:sym typeface="Symbol" panose="05050102010706020507" pitchFamily="18" charset="2"/>
                  </a:rPr>
                  <a:t> 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instructor.id =  teaches.id</a:t>
                </a:r>
                <a:r>
                  <a:rPr lang="en-US" altLang="ja-JP" i="1" baseline="-25000" dirty="0">
                    <a:sym typeface="Symbol" panose="05050102010706020507" pitchFamily="18" charset="2"/>
                  </a:rPr>
                  <a:t>  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(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instructor  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x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 teaches </a:t>
                </a:r>
                <a:r>
                  <a:rPr lang="en-US" altLang="ja-JP" sz="1700" dirty="0">
                    <a:sym typeface="Symbol" panose="05050102010706020507" pitchFamily="18" charset="2"/>
                  </a:rPr>
                  <a:t>))</a:t>
                </a:r>
              </a:p>
              <a:p>
                <a:pPr marL="0" indent="0"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ja-JP" sz="1700" dirty="0">
                    <a:sym typeface="Symbol" panose="05050102010706020507" pitchFamily="18" charset="2"/>
                  </a:rPr>
                  <a:t>Can equivalently be written as </a:t>
                </a:r>
              </a:p>
              <a:p>
                <a:pPr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          instructor</a:t>
                </a:r>
                <a:r>
                  <a:rPr lang="en-US" altLang="en-US" sz="17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baseline="-25000" dirty="0"/>
                  <a:t> </a:t>
                </a:r>
                <a:r>
                  <a:rPr lang="en-US" sz="1700" i="1" dirty="0"/>
                  <a:t>teaches</a:t>
                </a:r>
                <a:r>
                  <a:rPr lang="en-US" sz="1700" dirty="0"/>
                  <a:t>.</a:t>
                </a:r>
              </a:p>
              <a:p>
                <a:pPr>
                  <a:buNone/>
                </a:pPr>
                <a:endParaRPr lang="en-US" altLang="ja-JP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1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8350" y="1138873"/>
                <a:ext cx="7644131" cy="4823015"/>
              </a:xfrm>
              <a:blipFill>
                <a:blip r:embed="rId3"/>
                <a:stretch>
                  <a:fillRect l="-558" t="-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Union Operation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4489"/>
            <a:ext cx="7683191" cy="4688903"/>
          </a:xfrm>
        </p:spPr>
        <p:txBody>
          <a:bodyPr/>
          <a:lstStyle/>
          <a:p>
            <a:pPr>
              <a:tabLst>
                <a:tab pos="2965450" algn="ctr"/>
              </a:tabLst>
            </a:pPr>
            <a:r>
              <a:rPr lang="en-US" altLang="en-US" sz="1700" dirty="0"/>
              <a:t>The union operation </a:t>
            </a:r>
            <a:r>
              <a:rPr lang="en-US" altLang="en-US" sz="1700" dirty="0">
                <a:sym typeface="Symbol" panose="05050102010706020507" pitchFamily="18" charset="2"/>
              </a:rPr>
              <a:t>allows us to combine two relations </a:t>
            </a:r>
            <a:endParaRPr lang="en-US" altLang="en-US" sz="1700" dirty="0"/>
          </a:p>
          <a:p>
            <a:pPr>
              <a:tabLst>
                <a:tab pos="2965450" algn="ctr"/>
              </a:tabLst>
            </a:pPr>
            <a:r>
              <a:rPr lang="en-US" altLang="en-US" sz="1700" dirty="0"/>
              <a:t>Notation:  </a:t>
            </a:r>
            <a:r>
              <a:rPr lang="en-US" altLang="en-US" sz="1700" i="1" dirty="0"/>
              <a:t>r 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s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>
              <a:tabLst>
                <a:tab pos="2965450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For </a:t>
            </a:r>
            <a:r>
              <a:rPr lang="en-US" altLang="en-US" sz="1700" i="1" dirty="0"/>
              <a:t>r</a:t>
            </a:r>
            <a:r>
              <a:rPr lang="en-US" altLang="en-US" sz="1700" dirty="0"/>
              <a:t> 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s</a:t>
            </a:r>
            <a:r>
              <a:rPr lang="en-US" altLang="en-US" sz="1700" dirty="0">
                <a:sym typeface="Symbol" panose="05050102010706020507" pitchFamily="18" charset="2"/>
              </a:rPr>
              <a:t> to be valid.</a:t>
            </a:r>
          </a:p>
          <a:p>
            <a:pPr>
              <a:buFont typeface="Monotype Sorts" charset="2"/>
              <a:buNone/>
              <a:tabLst>
                <a:tab pos="2965450" algn="ctr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	</a:t>
            </a:r>
            <a:r>
              <a:rPr lang="en-US" altLang="en-US" sz="1700" dirty="0">
                <a:sym typeface="Symbol" panose="05050102010706020507" pitchFamily="18" charset="2"/>
              </a:rPr>
              <a:t>1.   </a:t>
            </a:r>
            <a:r>
              <a:rPr lang="en-US" altLang="en-US" sz="1700" i="1" dirty="0">
                <a:sym typeface="Symbol" panose="05050102010706020507" pitchFamily="18" charset="2"/>
              </a:rPr>
              <a:t>r,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s</a:t>
            </a:r>
            <a:r>
              <a:rPr lang="en-US" altLang="en-US" sz="1700" dirty="0">
                <a:sym typeface="Symbol" panose="05050102010706020507" pitchFamily="18" charset="2"/>
              </a:rPr>
              <a:t> must have the </a:t>
            </a:r>
            <a:r>
              <a:rPr lang="en-US" altLang="en-US" sz="1700" i="1" dirty="0">
                <a:sym typeface="Symbol" panose="05050102010706020507" pitchFamily="18" charset="2"/>
              </a:rPr>
              <a:t>same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arity</a:t>
            </a:r>
            <a:r>
              <a:rPr lang="en-US" altLang="en-US" sz="1700" dirty="0">
                <a:sym typeface="Symbol" panose="05050102010706020507" pitchFamily="18" charset="2"/>
              </a:rPr>
              <a:t> (same number of attributes)</a:t>
            </a:r>
          </a:p>
          <a:p>
            <a:pPr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	2.   The attribute domains must be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compatible</a:t>
            </a:r>
            <a:r>
              <a:rPr lang="en-US" altLang="en-US" sz="1700" dirty="0">
                <a:sym typeface="Symbol" panose="05050102010706020507" pitchFamily="18" charset="2"/>
              </a:rPr>
              <a:t> (example: 2</a:t>
            </a:r>
            <a:r>
              <a:rPr lang="en-US" altLang="en-US" sz="1700" baseline="30000" dirty="0">
                <a:sym typeface="Symbol" panose="05050102010706020507" pitchFamily="18" charset="2"/>
              </a:rPr>
              <a:t>nd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</a:p>
          <a:p>
            <a:pPr lvl="1"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     </a:t>
            </a:r>
            <a:r>
              <a:rPr lang="en-US" altLang="en-US" dirty="0">
                <a:sym typeface="Symbol" panose="05050102010706020507" pitchFamily="18" charset="2"/>
              </a:rPr>
              <a:t>column of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deals with the same type of values as does the </a:t>
            </a:r>
          </a:p>
          <a:p>
            <a:pPr lvl="1">
              <a:spcBef>
                <a:spcPts val="0"/>
              </a:spcBef>
              <a:buNone/>
              <a:tabLst>
                <a:tab pos="2965450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     2</a:t>
            </a:r>
            <a:r>
              <a:rPr lang="en-US" altLang="en-US" baseline="30000" dirty="0">
                <a:sym typeface="Symbol" panose="05050102010706020507" pitchFamily="18" charset="2"/>
              </a:rPr>
              <a:t>nd </a:t>
            </a:r>
            <a:r>
              <a:rPr lang="en-US" altLang="en-US" dirty="0">
                <a:sym typeface="Symbol" panose="05050102010706020507" pitchFamily="18" charset="2"/>
              </a:rPr>
              <a:t>column of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r>
              <a:rPr lang="en-US" altLang="en-US" sz="1700" dirty="0"/>
              <a:t>Example: to find all courses taught in the Fall 2017 semester, or in the Spring 2018 semester, or in both</a:t>
            </a:r>
            <a:br>
              <a:rPr lang="en-US" altLang="en-US" sz="1700" dirty="0"/>
            </a:br>
            <a:r>
              <a:rPr lang="en-US" altLang="en-US" dirty="0"/>
              <a:t>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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</a:t>
            </a:r>
            <a:r>
              <a:rPr lang="en-US" altLang="ja-JP" dirty="0">
                <a:sym typeface="Symbol" panose="05050102010706020507" pitchFamily="18" charset="2"/>
              </a:rPr>
              <a:t>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endParaRPr lang="en-US" altLang="en-US" sz="1700" dirty="0"/>
          </a:p>
          <a:p>
            <a:pPr>
              <a:lnSpc>
                <a:spcPct val="140000"/>
              </a:lnSpc>
              <a:buFont typeface="Monotype Sorts" charset="2"/>
              <a:buNone/>
              <a:tabLst>
                <a:tab pos="2965450" algn="ctr"/>
              </a:tabLst>
            </a:pPr>
            <a:endParaRPr lang="en-US" altLang="en-US" i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A33A3-E6E5-56E2-F85C-B49ED117E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349567-16A9-AC4C-D7E8-09EA9F572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350" y="1228474"/>
            <a:ext cx="7707313" cy="4634415"/>
          </a:xfrm>
        </p:spPr>
      </p:pic>
    </p:spTree>
    <p:extLst>
      <p:ext uri="{BB962C8B-B14F-4D97-AF65-F5344CB8AC3E}">
        <p14:creationId xmlns:p14="http://schemas.microsoft.com/office/powerpoint/2010/main" val="2441756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Union Operation (Cont.)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41338"/>
            <a:ext cx="7680706" cy="1372678"/>
          </a:xfrm>
        </p:spPr>
        <p:txBody>
          <a:bodyPr/>
          <a:lstStyle/>
          <a:p>
            <a:pPr>
              <a:lnSpc>
                <a:spcPct val="140000"/>
              </a:lnSpc>
              <a:tabLst>
                <a:tab pos="2965450" algn="ctr"/>
              </a:tabLst>
            </a:pPr>
            <a:r>
              <a:rPr lang="en-US" altLang="en-US" sz="1700" dirty="0"/>
              <a:t>Result of: </a:t>
            </a:r>
            <a:br>
              <a:rPr lang="en-US" altLang="en-US" sz="1700" dirty="0"/>
            </a:br>
            <a:r>
              <a:rPr lang="en-US" altLang="en-US" sz="1700" dirty="0"/>
              <a:t>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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dirty="0">
                <a:sym typeface="Symbol" panose="05050102010706020507" pitchFamily="18" charset="2"/>
              </a:rPr>
              <a:t>   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endParaRPr lang="en-US" altLang="en-US" dirty="0"/>
          </a:p>
          <a:p>
            <a:pPr>
              <a:lnSpc>
                <a:spcPct val="140000"/>
              </a:lnSpc>
              <a:buFont typeface="Monotype Sorts" charset="2"/>
              <a:buNone/>
              <a:tabLst>
                <a:tab pos="2965450" algn="ctr"/>
              </a:tabLst>
            </a:pPr>
            <a:endParaRPr lang="en-US" altLang="en-US" i="1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046BBCE-73BA-4F9A-A63C-4CE16E87A8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7449" r="37780" b="13863"/>
          <a:stretch/>
        </p:blipFill>
        <p:spPr>
          <a:xfrm>
            <a:off x="5757160" y="2517925"/>
            <a:ext cx="1818732" cy="28747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6F327D-C2B5-CDE4-9B75-33B9053DF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46" y="3096490"/>
            <a:ext cx="1067712" cy="12070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95C310-BBC5-A928-55E2-81531F94CEBE}"/>
              </a:ext>
            </a:extLst>
          </p:cNvPr>
          <p:cNvSpPr txBox="1"/>
          <p:nvPr/>
        </p:nvSpPr>
        <p:spPr>
          <a:xfrm>
            <a:off x="2093274" y="3530751"/>
            <a:ext cx="334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sym typeface="Symbol" panose="05050102010706020507" pitchFamily="18" charset="2"/>
              </a:rPr>
              <a:t>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921E37-0415-194D-4A5C-F2D4D75F293E}"/>
              </a:ext>
            </a:extLst>
          </p:cNvPr>
          <p:cNvSpPr txBox="1"/>
          <p:nvPr/>
        </p:nvSpPr>
        <p:spPr>
          <a:xfrm>
            <a:off x="4956902" y="3595973"/>
            <a:ext cx="4052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sym typeface="Symbol" panose="05050102010706020507" pitchFamily="18" charset="2"/>
              </a:rPr>
              <a:t>=</a:t>
            </a:r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B033EB-78CC-2068-D529-C4421FBB6D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9904" y="2842874"/>
            <a:ext cx="1235329" cy="223812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Set-Intersection Operation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12169" cy="3932999"/>
          </a:xfrm>
        </p:spPr>
        <p:txBody>
          <a:bodyPr/>
          <a:lstStyle/>
          <a:p>
            <a:r>
              <a:rPr lang="en-US" altLang="en-US" sz="1700" dirty="0"/>
              <a:t>The  set-intersection  operation </a:t>
            </a:r>
            <a:r>
              <a:rPr lang="en-US" altLang="en-US" sz="1700" dirty="0">
                <a:sym typeface="Symbol" panose="05050102010706020507" pitchFamily="18" charset="2"/>
              </a:rPr>
              <a:t> allows us to find tuples that are in both the input relations.</a:t>
            </a:r>
            <a:endParaRPr lang="en-US" altLang="en-US" sz="1700" dirty="0"/>
          </a:p>
          <a:p>
            <a:r>
              <a:rPr lang="en-US" altLang="en-US" sz="1700" dirty="0"/>
              <a:t>Notation: </a:t>
            </a:r>
            <a:r>
              <a:rPr lang="en-US" altLang="en-US" sz="1700" i="1" dirty="0"/>
              <a:t>r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r>
              <a:rPr lang="en-US" altLang="en-US" sz="1700" i="1" dirty="0"/>
              <a:t>s</a:t>
            </a:r>
            <a:endParaRPr lang="en-US" altLang="en-US" sz="1700" dirty="0"/>
          </a:p>
          <a:p>
            <a:r>
              <a:rPr lang="en-US" altLang="en-US" sz="1700" dirty="0"/>
              <a:t>Assume: </a:t>
            </a:r>
          </a:p>
          <a:p>
            <a:pPr lvl="1"/>
            <a:r>
              <a:rPr lang="en-US" altLang="en-US" sz="1700" i="1" dirty="0"/>
              <a:t>r</a:t>
            </a:r>
            <a:r>
              <a:rPr lang="en-US" altLang="en-US" sz="1700" dirty="0"/>
              <a:t>, </a:t>
            </a:r>
            <a:r>
              <a:rPr lang="en-US" altLang="en-US" sz="1700" i="1" dirty="0"/>
              <a:t>s</a:t>
            </a:r>
            <a:r>
              <a:rPr lang="en-US" altLang="en-US" sz="1700" dirty="0"/>
              <a:t> have the </a:t>
            </a:r>
            <a:r>
              <a:rPr lang="en-US" altLang="en-US" sz="1700" i="1" dirty="0"/>
              <a:t>same </a:t>
            </a:r>
            <a:r>
              <a:rPr lang="en-US" altLang="en-US" sz="1700" i="1" dirty="0" err="1"/>
              <a:t>arity</a:t>
            </a:r>
            <a:r>
              <a:rPr lang="en-US" altLang="en-US" sz="1700" dirty="0"/>
              <a:t> </a:t>
            </a:r>
          </a:p>
          <a:p>
            <a:pPr lvl="1"/>
            <a:r>
              <a:rPr lang="en-US" altLang="en-US" sz="1700" dirty="0"/>
              <a:t>attributes of </a:t>
            </a:r>
            <a:r>
              <a:rPr lang="en-US" altLang="en-US" sz="1700" i="1" dirty="0"/>
              <a:t>r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s</a:t>
            </a:r>
            <a:r>
              <a:rPr lang="en-US" altLang="en-US" sz="1700" dirty="0"/>
              <a:t> are compatible</a:t>
            </a:r>
          </a:p>
          <a:p>
            <a:r>
              <a:rPr lang="en-US" altLang="en-US" sz="1700" dirty="0"/>
              <a:t>Example: Find the set of all courses taught in both the Fall 2017 and the Spring 2018 semesters.</a:t>
            </a:r>
          </a:p>
          <a:p>
            <a:pPr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     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 err="1"/>
              <a:t>course_id</a:t>
            </a:r>
            <a:r>
              <a:rPr lang="en-US" altLang="en-US" dirty="0"/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Fall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  </a:t>
            </a:r>
            <a:r>
              <a:rPr lang="en-US" altLang="ja-JP" dirty="0">
                <a:sym typeface="Symbol" panose="05050102010706020507" pitchFamily="18" charset="2"/>
              </a:rPr>
              <a:t></a:t>
            </a:r>
            <a:r>
              <a:rPr lang="en-US" altLang="ja-JP" i="1" baseline="-25000" dirty="0" err="1"/>
              <a:t>course_id</a:t>
            </a:r>
            <a:r>
              <a:rPr lang="en-US" altLang="ja-JP" dirty="0"/>
              <a:t> (</a:t>
            </a:r>
            <a:r>
              <a:rPr lang="en-US" altLang="ja-JP" i="1" dirty="0">
                <a:sym typeface="Symbol" panose="05050102010706020507" pitchFamily="18" charset="2"/>
              </a:rPr>
              <a:t>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i="1" baseline="-25000" dirty="0">
                <a:sym typeface="Symbol" panose="05050102010706020507" pitchFamily="18" charset="2"/>
              </a:rPr>
              <a:t>”</a:t>
            </a:r>
            <a:r>
              <a:rPr lang="en-US" altLang="ja-JP" i="1" baseline="-25000" dirty="0">
                <a:sym typeface="Symbol" panose="05050102010706020507" pitchFamily="18" charset="2"/>
              </a:rPr>
              <a:t>  </a:t>
            </a:r>
            <a:r>
              <a:rPr lang="el-GR" altLang="ja-JP" i="1" baseline="-25000" dirty="0">
                <a:sym typeface="Symbol" panose="05050102010706020507" pitchFamily="18" charset="2"/>
              </a:rPr>
              <a:t>Λ</a:t>
            </a:r>
            <a:r>
              <a:rPr lang="en-US" altLang="ja-JP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Result</a:t>
            </a:r>
            <a:endParaRPr lang="en-US" altLang="en-US" sz="1700" dirty="0"/>
          </a:p>
          <a:p>
            <a:pPr>
              <a:buNone/>
            </a:pPr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D242B5-7E15-4908-A992-5D9C0D3A8FA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8817" r="40862" b="33302"/>
          <a:stretch/>
        </p:blipFill>
        <p:spPr>
          <a:xfrm>
            <a:off x="3584772" y="4723514"/>
            <a:ext cx="1373862" cy="82431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111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Set Difference Operation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77913"/>
            <a:ext cx="7754212" cy="3737927"/>
          </a:xfrm>
        </p:spPr>
        <p:txBody>
          <a:bodyPr/>
          <a:lstStyle/>
          <a:p>
            <a:pPr>
              <a:spcBef>
                <a:spcPct val="60000"/>
              </a:spcBef>
            </a:pPr>
            <a:r>
              <a:rPr lang="en-US" altLang="en-US" sz="1700" dirty="0"/>
              <a:t>The set-difference operation allows us to find tuples that are in one relation but are not in another. </a:t>
            </a:r>
          </a:p>
          <a:p>
            <a:pPr>
              <a:spcBef>
                <a:spcPct val="60000"/>
              </a:spcBef>
            </a:pPr>
            <a:r>
              <a:rPr lang="en-US" altLang="en-US" sz="1700" dirty="0"/>
              <a:t>Notation </a:t>
            </a:r>
            <a:r>
              <a:rPr lang="en-US" altLang="en-US" sz="1700" i="1" dirty="0"/>
              <a:t>r – s</a:t>
            </a:r>
          </a:p>
          <a:p>
            <a:r>
              <a:rPr lang="en-US" altLang="en-US" sz="1700" dirty="0"/>
              <a:t>Set differences must be taken between </a:t>
            </a:r>
            <a:r>
              <a:rPr lang="en-US" altLang="en-US" sz="1700" b="1" dirty="0">
                <a:solidFill>
                  <a:srgbClr val="002060"/>
                </a:solidFill>
              </a:rPr>
              <a:t>compatible</a:t>
            </a:r>
            <a:r>
              <a:rPr lang="en-US" altLang="en-US" sz="1700" dirty="0"/>
              <a:t> relations.</a:t>
            </a:r>
          </a:p>
          <a:p>
            <a:pPr lvl="1"/>
            <a:r>
              <a:rPr lang="en-US" altLang="en-US" sz="1700" i="1" dirty="0"/>
              <a:t>r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s</a:t>
            </a:r>
            <a:r>
              <a:rPr lang="en-US" altLang="en-US" sz="1700" dirty="0"/>
              <a:t> must have the </a:t>
            </a:r>
            <a:r>
              <a:rPr lang="en-US" altLang="en-US" sz="1700" dirty="0">
                <a:solidFill>
                  <a:srgbClr val="002060"/>
                </a:solidFill>
              </a:rPr>
              <a:t>same</a:t>
            </a:r>
            <a:r>
              <a:rPr lang="en-US" altLang="en-US" sz="1700" dirty="0"/>
              <a:t> </a:t>
            </a:r>
            <a:r>
              <a:rPr lang="en-US" altLang="en-US" sz="1700" dirty="0" err="1"/>
              <a:t>arity</a:t>
            </a:r>
            <a:endParaRPr lang="en-US" altLang="en-US" sz="1700" dirty="0"/>
          </a:p>
          <a:p>
            <a:pPr lvl="1"/>
            <a:r>
              <a:rPr lang="en-US" altLang="en-US" sz="1700" dirty="0"/>
              <a:t>attribute domains of </a:t>
            </a:r>
            <a:r>
              <a:rPr lang="en-US" altLang="en-US" sz="1700" i="1" dirty="0"/>
              <a:t>r </a:t>
            </a:r>
            <a:r>
              <a:rPr lang="en-US" altLang="en-US" sz="1700" dirty="0"/>
              <a:t>and </a:t>
            </a:r>
            <a:r>
              <a:rPr lang="en-US" altLang="en-US" sz="1700" i="1" dirty="0"/>
              <a:t>s </a:t>
            </a:r>
            <a:r>
              <a:rPr lang="en-US" altLang="en-US" sz="1700" dirty="0"/>
              <a:t>must be compatible</a:t>
            </a:r>
          </a:p>
          <a:p>
            <a:pPr>
              <a:lnSpc>
                <a:spcPct val="140000"/>
              </a:lnSpc>
            </a:pPr>
            <a:r>
              <a:rPr lang="en-US" altLang="en-US" sz="1700" dirty="0"/>
              <a:t>Example: to find all courses taught in the Fall 2017 semester, but not in the Spring 2018 semester</a:t>
            </a:r>
            <a:br>
              <a:rPr lang="en-US" altLang="en-US" sz="1700" dirty="0"/>
            </a:br>
            <a:r>
              <a:rPr lang="en-US" altLang="en-US" sz="1700" dirty="0"/>
              <a:t>   </a:t>
            </a:r>
            <a:r>
              <a:rPr lang="en-US" altLang="en-US" sz="1700" dirty="0">
                <a:sym typeface="Symbol" panose="05050102010706020507" pitchFamily="18" charset="2"/>
              </a:rPr>
              <a:t></a:t>
            </a:r>
            <a:r>
              <a:rPr lang="en-US" altLang="en-US" sz="1700" i="1" baseline="-25000" dirty="0" err="1"/>
              <a:t>course_id</a:t>
            </a:r>
            <a:r>
              <a:rPr lang="en-US" altLang="en-US" sz="1700" dirty="0"/>
              <a:t> (</a:t>
            </a:r>
            <a:r>
              <a:rPr lang="en-US" altLang="en-US" sz="1700" i="1" dirty="0">
                <a:sym typeface="Symbol" panose="05050102010706020507" pitchFamily="18" charset="2"/>
              </a:rPr>
              <a:t>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Fall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17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  −  </a:t>
            </a:r>
            <a:br>
              <a:rPr lang="en-US" altLang="ja-JP" sz="1700" dirty="0">
                <a:sym typeface="Symbol" panose="05050102010706020507" pitchFamily="18" charset="2"/>
              </a:rPr>
            </a:br>
            <a:r>
              <a:rPr lang="en-US" altLang="ja-JP" sz="1700" dirty="0">
                <a:sym typeface="Symbol" panose="05050102010706020507" pitchFamily="18" charset="2"/>
              </a:rPr>
              <a:t>   </a:t>
            </a:r>
            <a:r>
              <a:rPr lang="en-US" altLang="ja-JP" sz="1700" i="1" baseline="-25000" dirty="0" err="1"/>
              <a:t>course_id</a:t>
            </a:r>
            <a:r>
              <a:rPr lang="en-US" altLang="ja-JP" sz="1700" dirty="0"/>
              <a:t> (</a:t>
            </a:r>
            <a:r>
              <a:rPr lang="en-US" altLang="ja-JP" sz="1700" i="1" dirty="0">
                <a:sym typeface="Symbol" panose="05050102010706020507" pitchFamily="18" charset="2"/>
              </a:rPr>
              <a:t></a:t>
            </a:r>
            <a:r>
              <a:rPr lang="en-US" altLang="ja-JP" sz="1700" dirty="0">
                <a:sym typeface="Symbol" panose="05050102010706020507" pitchFamily="18" charset="2"/>
              </a:rPr>
              <a:t> 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sz="17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17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1700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section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B4CEA55-B6FE-4CA5-8F34-E2CFAC349C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709" r="41294" b="41353"/>
          <a:stretch/>
        </p:blipFill>
        <p:spPr>
          <a:xfrm>
            <a:off x="3971064" y="4882073"/>
            <a:ext cx="1201872" cy="9833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 Assignment  Operation 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1563"/>
            <a:ext cx="7656322" cy="4835207"/>
          </a:xfrm>
        </p:spPr>
        <p:txBody>
          <a:bodyPr/>
          <a:lstStyle/>
          <a:p>
            <a:r>
              <a:rPr lang="en-US" altLang="en-US" sz="1700" dirty="0"/>
              <a:t>It is convenient at times to write a relational-algebra expression by assigning parts of it to temporary relation variables.  </a:t>
            </a:r>
          </a:p>
          <a:p>
            <a:r>
              <a:rPr lang="en-US" altLang="en-US" sz="1700" dirty="0"/>
              <a:t>The assignment  operation is  denoted by </a:t>
            </a:r>
            <a:r>
              <a:rPr lang="en-US" altLang="en-US" sz="1700" dirty="0">
                <a:sym typeface="Symbol" panose="05050102010706020507" pitchFamily="18" charset="2"/>
              </a:rPr>
              <a:t></a:t>
            </a:r>
            <a:r>
              <a:rPr lang="en-US" altLang="en-US" sz="1700" dirty="0">
                <a:sym typeface="Wingdings" pitchFamily="2" charset="2"/>
              </a:rPr>
              <a:t> and </a:t>
            </a:r>
            <a:r>
              <a:rPr lang="en-US" altLang="en-US" sz="1700" dirty="0"/>
              <a:t>works like assignment in a programming language.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/>
              <a:t>Example: Find all </a:t>
            </a:r>
            <a:r>
              <a:rPr lang="en-US" altLang="en-US" sz="1700" dirty="0">
                <a:sym typeface="Symbol" panose="05050102010706020507" pitchFamily="18" charset="2"/>
              </a:rPr>
              <a:t>instructor in the “Physics” and Music department.</a:t>
            </a:r>
            <a:br>
              <a:rPr lang="en-US" altLang="en-US" sz="1700" dirty="0">
                <a:sym typeface="Symbol" panose="05050102010706020507" pitchFamily="18" charset="2"/>
              </a:rPr>
            </a:b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</a:t>
            </a:r>
            <a:r>
              <a:rPr lang="en-US" altLang="en-US" sz="1700" i="1" dirty="0">
                <a:sym typeface="Symbol" panose="05050102010706020507" pitchFamily="18" charset="2"/>
              </a:rPr>
              <a:t>Physics</a:t>
            </a:r>
            <a:r>
              <a:rPr lang="en-US" altLang="en-US" sz="1700" dirty="0">
                <a:sym typeface="Symbol" panose="05050102010706020507" pitchFamily="18" charset="2"/>
              </a:rPr>
              <a:t> </a:t>
            </a:r>
            <a:r>
              <a:rPr lang="en-US" altLang="en-US" sz="1700" b="1" dirty="0">
                <a:sym typeface="Wingdings" pitchFamily="2" charset="2"/>
              </a:rPr>
              <a:t> </a:t>
            </a:r>
            <a:r>
              <a:rPr lang="en-US" altLang="en-US" sz="1800" i="1" dirty="0">
                <a:sym typeface="Symbol" panose="05050102010706020507" pitchFamily="18" charset="2"/>
              </a:rPr>
              <a:t></a:t>
            </a:r>
            <a:r>
              <a:rPr lang="en-US" altLang="en-US" sz="1800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</a:t>
            </a:r>
            <a:r>
              <a:rPr lang="en-US" altLang="en-US" sz="1700" i="1" dirty="0">
                <a:sym typeface="Symbol" panose="05050102010706020507" pitchFamily="18" charset="2"/>
              </a:rPr>
              <a:t>Music</a:t>
            </a:r>
            <a:r>
              <a:rPr lang="en-US" altLang="en-US" sz="1700" dirty="0">
                <a:sym typeface="Symbol" panose="05050102010706020507" pitchFamily="18" charset="2"/>
              </a:rPr>
              <a:t> </a:t>
            </a:r>
            <a:r>
              <a:rPr lang="en-US" altLang="en-US" sz="1700" b="1" dirty="0">
                <a:sym typeface="Wingdings" pitchFamily="2" charset="2"/>
              </a:rPr>
              <a:t> </a:t>
            </a:r>
            <a:r>
              <a:rPr lang="en-US" altLang="en-US" sz="1900" i="1" dirty="0">
                <a:sym typeface="Symbol" panose="05050102010706020507" pitchFamily="18" charset="2"/>
              </a:rPr>
              <a:t></a:t>
            </a:r>
            <a:r>
              <a:rPr lang="en-US" altLang="en-US" sz="1900" dirty="0">
                <a:sym typeface="Symbol" panose="05050102010706020507" pitchFamily="18" charset="2"/>
              </a:rPr>
              <a:t> </a:t>
            </a:r>
            <a:r>
              <a:rPr lang="en-US" altLang="en-US" sz="1900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19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1900" i="1" baseline="-25000" dirty="0">
                <a:sym typeface="Symbol" panose="05050102010706020507" pitchFamily="18" charset="2"/>
              </a:rPr>
              <a:t>Music”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       </a:t>
            </a:r>
            <a:r>
              <a:rPr lang="en-US" altLang="en-US" sz="1700" i="1" dirty="0">
                <a:sym typeface="Symbol" panose="05050102010706020507" pitchFamily="18" charset="2"/>
              </a:rPr>
              <a:t>Physics</a:t>
            </a:r>
            <a:r>
              <a:rPr lang="en-US" altLang="en-US" sz="1700" dirty="0">
                <a:sym typeface="Symbol" panose="05050102010706020507" pitchFamily="18" charset="2"/>
              </a:rPr>
              <a:t> 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 </a:t>
            </a:r>
            <a:r>
              <a:rPr lang="en-US" altLang="en-US" sz="1700" i="1" dirty="0">
                <a:sym typeface="Symbol" panose="05050102010706020507" pitchFamily="18" charset="2"/>
              </a:rPr>
              <a:t>Music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800" dirty="0">
                <a:sym typeface="Symbol" panose="05050102010706020507" pitchFamily="18" charset="2"/>
              </a:rPr>
              <a:t> </a:t>
            </a:r>
          </a:p>
          <a:p>
            <a:pPr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With the assignment operation, a query can be written as a sequential program consisting of a series of assignments followed by an expression whose value is displayed as the result of the query. 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 Rename Operation 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83191" cy="3201479"/>
          </a:xfrm>
        </p:spPr>
        <p:txBody>
          <a:bodyPr/>
          <a:lstStyle/>
          <a:p>
            <a:r>
              <a:rPr lang="en-US" altLang="en-US" sz="1700" dirty="0"/>
              <a:t>The results of relational-algebra expressions do not have a name that we can use to refer to them.  The  rename operator,  </a:t>
            </a:r>
            <a:r>
              <a:rPr lang="en-US" altLang="en-US" sz="1700" i="1" dirty="0">
                <a:sym typeface="Symbol" panose="05050102010706020507" pitchFamily="18" charset="2"/>
              </a:rPr>
              <a:t> ,</a:t>
            </a:r>
            <a:r>
              <a:rPr lang="en-US" altLang="en-US" sz="1700" dirty="0">
                <a:sym typeface="Symbol" panose="05050102010706020507" pitchFamily="18" charset="2"/>
              </a:rPr>
              <a:t>  is provided 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for that purpose</a:t>
            </a:r>
          </a:p>
          <a:p>
            <a:r>
              <a:rPr lang="en-US" altLang="en-US" sz="1700" dirty="0"/>
              <a:t>The expression:</a:t>
            </a:r>
          </a:p>
          <a:p>
            <a:pPr>
              <a:buNone/>
            </a:pPr>
            <a:r>
              <a:rPr lang="en-US" altLang="en-US" sz="1700" dirty="0"/>
              <a:t>                  </a:t>
            </a:r>
            <a:r>
              <a:rPr lang="en-US" altLang="en-US" i="1" dirty="0">
                <a:sym typeface="Symbol" panose="05050102010706020507" pitchFamily="18" charset="2"/>
              </a:rPr>
              <a:t></a:t>
            </a:r>
            <a:r>
              <a:rPr lang="en-US" altLang="en-US" i="1" baseline="-25000" dirty="0">
                <a:sym typeface="Symbol" panose="05050102010706020507" pitchFamily="18" charset="2"/>
              </a:rPr>
              <a:t>x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(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</a:p>
          <a:p>
            <a:pPr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 returns the result of expression 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dirty="0">
                <a:sym typeface="Symbol" panose="05050102010706020507" pitchFamily="18" charset="2"/>
              </a:rPr>
              <a:t> under the name </a:t>
            </a:r>
            <a:r>
              <a:rPr lang="en-US" altLang="en-US" sz="1700" i="1" dirty="0">
                <a:sym typeface="Symbol" panose="05050102010706020507" pitchFamily="18" charset="2"/>
              </a:rPr>
              <a:t>x</a:t>
            </a:r>
            <a:endParaRPr lang="en-US" altLang="en-US" sz="1700" i="1" dirty="0"/>
          </a:p>
          <a:p>
            <a:r>
              <a:rPr lang="en-US" altLang="en-US" sz="1700" dirty="0"/>
              <a:t>Another form of the rename operation:</a:t>
            </a:r>
          </a:p>
          <a:p>
            <a:pPr>
              <a:buNone/>
            </a:pPr>
            <a:r>
              <a:rPr lang="en-US" altLang="en-US" sz="1700" dirty="0"/>
              <a:t>                 </a:t>
            </a:r>
            <a:r>
              <a:rPr lang="en-US" altLang="en-US" i="1" dirty="0">
                <a:sym typeface="Symbol" panose="05050102010706020507" pitchFamily="18" charset="2"/>
              </a:rPr>
              <a:t></a:t>
            </a:r>
            <a:r>
              <a:rPr lang="en-US" altLang="en-US" i="1" baseline="-25000" dirty="0">
                <a:sym typeface="Symbol" panose="05050102010706020507" pitchFamily="18" charset="2"/>
              </a:rPr>
              <a:t>x(A1,A2, .. An) </a:t>
            </a:r>
            <a:r>
              <a:rPr lang="en-US" altLang="en-US" sz="1700" dirty="0">
                <a:sym typeface="Symbol" panose="05050102010706020507" pitchFamily="18" charset="2"/>
              </a:rPr>
              <a:t>(</a:t>
            </a:r>
            <a:r>
              <a:rPr lang="en-US" altLang="en-US" sz="1700" i="1" dirty="0">
                <a:sym typeface="Symbol" panose="05050102010706020507" pitchFamily="18" charset="2"/>
              </a:rPr>
              <a:t>E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  <a:endParaRPr lang="en-US" altLang="en-US" sz="17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253986" cy="3795204"/>
          </a:xfrm>
        </p:spPr>
        <p:txBody>
          <a:bodyPr/>
          <a:lstStyle/>
          <a:p>
            <a:pPr>
              <a:tabLst>
                <a:tab pos="2222500" algn="l"/>
              </a:tabLst>
            </a:pPr>
            <a:r>
              <a:rPr lang="en-US" altLang="en-US" sz="1700" dirty="0"/>
              <a:t>These functions operate on the multiset (set with duplicates) of values of a column of a relation, and return a value</a:t>
            </a:r>
          </a:p>
          <a:p>
            <a:pPr>
              <a:buFont typeface="Monotype Sorts" charset="2"/>
              <a:buNone/>
              <a:tabLst>
                <a:tab pos="2222500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: </a:t>
            </a:r>
            <a:r>
              <a:rPr lang="en-US" altLang="en-US" sz="1700" dirty="0"/>
              <a:t>average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min:  </a:t>
            </a:r>
            <a:r>
              <a:rPr lang="en-US" altLang="en-US" sz="1700" dirty="0"/>
              <a:t>minimum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max:  </a:t>
            </a:r>
            <a:r>
              <a:rPr lang="en-US" altLang="en-US" sz="1700" dirty="0"/>
              <a:t>maximum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sum:  </a:t>
            </a:r>
            <a:r>
              <a:rPr lang="en-US" altLang="en-US" sz="1700" dirty="0"/>
              <a:t>sum of values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count:  </a:t>
            </a:r>
            <a:r>
              <a:rPr lang="en-US" altLang="en-US" sz="1700" dirty="0"/>
              <a:t>number of values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Examples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1913" cy="4805045"/>
          </a:xfrm>
        </p:spPr>
        <p:txBody>
          <a:bodyPr/>
          <a:lstStyle/>
          <a:p>
            <a:pPr>
              <a:tabLst>
                <a:tab pos="1711325" algn="l"/>
              </a:tabLst>
            </a:pPr>
            <a:r>
              <a:rPr lang="en-US" altLang="en-US" sz="1700" dirty="0"/>
              <a:t>Find the average salary of instructors</a:t>
            </a:r>
          </a:p>
          <a:p>
            <a:pPr lvl="1">
              <a:tabLst>
                <a:tab pos="1711325" algn="l"/>
              </a:tabLst>
            </a:pPr>
            <a:r>
              <a:rPr lang="el-GR" altLang="en-US" sz="2000" i="1" dirty="0"/>
              <a:t>γ</a:t>
            </a:r>
            <a:r>
              <a:rPr lang="en-IN" altLang="en-US" sz="2000" i="1" baseline="-25000" dirty="0" err="1"/>
              <a:t>avg</a:t>
            </a:r>
            <a:r>
              <a:rPr lang="en-IN" altLang="en-US" sz="2000" i="1" baseline="-25000" dirty="0"/>
              <a:t>(salary)</a:t>
            </a:r>
            <a:r>
              <a:rPr lang="en-IN" altLang="en-US" sz="2000" i="1" dirty="0"/>
              <a:t>(</a:t>
            </a:r>
            <a:r>
              <a:rPr lang="en-US" altLang="en-US" sz="2000" i="1" dirty="0"/>
              <a:t>instructor)</a:t>
            </a:r>
            <a:br>
              <a:rPr lang="en-US" altLang="en-US" sz="2400" i="1" dirty="0"/>
            </a:br>
            <a:endParaRPr lang="en-US" altLang="en-US" sz="1700" dirty="0"/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total number of courses in 2018</a:t>
            </a:r>
          </a:p>
          <a:p>
            <a:pPr lvl="1">
              <a:tabLst>
                <a:tab pos="1711325" algn="l"/>
              </a:tabLst>
            </a:pPr>
            <a:r>
              <a:rPr lang="el-GR" altLang="en-US" sz="2000" i="1" dirty="0"/>
              <a:t>γ</a:t>
            </a:r>
            <a:r>
              <a:rPr lang="en-IN" altLang="en-US" sz="2000" i="1" baseline="-25000" dirty="0"/>
              <a:t>count(</a:t>
            </a:r>
            <a:r>
              <a:rPr lang="en-IN" altLang="en-US" sz="2000" i="1" baseline="-25000" dirty="0" err="1"/>
              <a:t>course_id</a:t>
            </a:r>
            <a:r>
              <a:rPr lang="en-IN" altLang="en-US" sz="2000" i="1" baseline="-25000" dirty="0"/>
              <a:t>)</a:t>
            </a:r>
            <a:r>
              <a:rPr lang="en-IN" altLang="en-US" sz="2000" i="1" dirty="0"/>
              <a:t>(</a:t>
            </a:r>
            <a:r>
              <a:rPr lang="en-US" altLang="en-US" sz="2400" i="1" dirty="0">
                <a:sym typeface="Symbol" panose="05050102010706020507" pitchFamily="18" charset="2"/>
              </a:rPr>
              <a:t>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year =</a:t>
            </a:r>
            <a:r>
              <a:rPr lang="en-IN" altLang="ja-JP" sz="2000" i="1" baseline="-25000" dirty="0">
                <a:sym typeface="Symbol" panose="05050102010706020507" pitchFamily="18" charset="2"/>
              </a:rPr>
              <a:t>2018 </a:t>
            </a:r>
            <a:r>
              <a:rPr lang="en-US" altLang="en-US" sz="2000" i="1" dirty="0"/>
              <a:t>(section))</a:t>
            </a:r>
            <a:endParaRPr kumimoji="0" lang="en-US" altLang="en-US" sz="1600" dirty="0"/>
          </a:p>
          <a:p>
            <a:pPr>
              <a:tabLst>
                <a:tab pos="1711325" algn="l"/>
              </a:tabLst>
            </a:pPr>
            <a:endParaRPr lang="en-US" altLang="en-US" dirty="0"/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758825" y="2813050"/>
            <a:ext cx="7681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800"/>
              <a:t>   </a:t>
            </a:r>
            <a:endParaRPr lang="en-US" altLang="en-US" sz="1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– Group By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23939"/>
            <a:ext cx="7900162" cy="1292542"/>
          </a:xfrm>
        </p:spPr>
        <p:txBody>
          <a:bodyPr/>
          <a:lstStyle/>
          <a:p>
            <a:pPr>
              <a:tabLst>
                <a:tab pos="625475" algn="l"/>
              </a:tabLst>
            </a:pPr>
            <a:r>
              <a:rPr lang="en-US" altLang="en-US" sz="1700" dirty="0"/>
              <a:t>Find the average salary of instructors in each department</a:t>
            </a:r>
          </a:p>
          <a:p>
            <a:pPr lvl="1">
              <a:tabLst>
                <a:tab pos="1711325" algn="l"/>
              </a:tabLst>
            </a:pPr>
            <a:r>
              <a:rPr lang="en-IN" altLang="en-US" sz="2000" i="1" baseline="-25000" dirty="0" err="1"/>
              <a:t>dept_name</a:t>
            </a:r>
            <a:r>
              <a:rPr lang="el-GR" altLang="en-US" sz="2000" i="1" dirty="0"/>
              <a:t>γ</a:t>
            </a:r>
            <a:r>
              <a:rPr lang="en-IN" altLang="en-US" sz="2000" i="1" baseline="-25000" dirty="0" err="1"/>
              <a:t>avg</a:t>
            </a:r>
            <a:r>
              <a:rPr lang="en-IN" altLang="en-US" sz="2000" i="1" baseline="-25000" dirty="0"/>
              <a:t>(salary)</a:t>
            </a:r>
            <a:r>
              <a:rPr lang="en-IN" altLang="en-US" sz="2000" i="1" dirty="0"/>
              <a:t>(</a:t>
            </a:r>
            <a:r>
              <a:rPr lang="en-IN" altLang="en-US" sz="2000" i="1" dirty="0">
                <a:sym typeface="Symbol" panose="05050102010706020507" pitchFamily="18" charset="2"/>
              </a:rPr>
              <a:t>instructor</a:t>
            </a:r>
            <a:r>
              <a:rPr lang="en-US" altLang="en-US" sz="2000" i="1" dirty="0"/>
              <a:t>)</a:t>
            </a:r>
            <a:endParaRPr kumimoji="0" lang="en-US" altLang="en-US" sz="2000" dirty="0"/>
          </a:p>
          <a:p>
            <a:pPr lvl="1">
              <a:buNone/>
              <a:tabLst>
                <a:tab pos="625475" algn="l"/>
              </a:tabLst>
            </a:pPr>
            <a:endParaRPr lang="en-US" altLang="en-US" sz="1700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696F0C8-535A-4899-86A4-1FC72B33C2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771" t="2012" r="19587" b="13353"/>
          <a:stretch/>
        </p:blipFill>
        <p:spPr>
          <a:xfrm>
            <a:off x="641556" y="2528706"/>
            <a:ext cx="3930444" cy="341553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1B06BB8-D7A3-4C3D-838A-568EB83A70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1384" t="3188" r="31718" b="23128"/>
          <a:stretch/>
        </p:blipFill>
        <p:spPr>
          <a:xfrm>
            <a:off x="5346097" y="2528706"/>
            <a:ext cx="2426304" cy="223149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Equivalent Queries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6740"/>
            <a:ext cx="7683192" cy="4664519"/>
          </a:xfrm>
        </p:spPr>
        <p:txBody>
          <a:bodyPr/>
          <a:lstStyle/>
          <a:p>
            <a:r>
              <a:rPr lang="en-US" altLang="en-US" sz="1700" dirty="0"/>
              <a:t>There is more than one way to write a query in relational algebra. </a:t>
            </a:r>
          </a:p>
          <a:p>
            <a:r>
              <a:rPr lang="en-US" altLang="en-US" sz="1700" dirty="0"/>
              <a:t>Example:  Find information about courses taught by instructors in the Physics department with salary greater than 90,000</a:t>
            </a:r>
          </a:p>
          <a:p>
            <a:r>
              <a:rPr lang="en-US" altLang="en-US" sz="1700" dirty="0"/>
              <a:t>Query 1</a:t>
            </a:r>
          </a:p>
          <a:p>
            <a:pPr>
              <a:buNone/>
            </a:pPr>
            <a:r>
              <a:rPr lang="en-US" altLang="en-US" sz="1700" i="1" dirty="0">
                <a:sym typeface="Symbol" panose="05050102010706020507" pitchFamily="18" charset="2"/>
              </a:rPr>
              <a:t> 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en-US" dirty="0">
                <a:sym typeface="Symbol" panose="05050102010706020507" pitchFamily="18" charset="2"/>
              </a:rPr>
              <a:t></a:t>
            </a:r>
            <a:r>
              <a:rPr lang="ja-JP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ja-JP" i="1" baseline="-25000" dirty="0">
                <a:sym typeface="Symbol" panose="05050102010706020507" pitchFamily="18" charset="2"/>
              </a:rPr>
              <a:t>salary &gt; </a:t>
            </a:r>
            <a:r>
              <a:rPr lang="en-US" altLang="ja-JP" baseline="-25000" dirty="0">
                <a:sym typeface="Symbol" panose="05050102010706020507" pitchFamily="18" charset="2"/>
              </a:rPr>
              <a:t>90,000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Query 2</a:t>
            </a:r>
            <a:endParaRPr lang="en-US" altLang="en-US" sz="1700" dirty="0"/>
          </a:p>
          <a:p>
            <a:pPr>
              <a:buNone/>
            </a:pPr>
            <a:r>
              <a:rPr lang="en-US" altLang="en-US" sz="1700" i="1" dirty="0">
                <a:sym typeface="Symbol" panose="05050102010706020507" pitchFamily="18" charset="2"/>
              </a:rPr>
              <a:t>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i="1" baseline="-25000" dirty="0">
                <a:sym typeface="Symbol" panose="05050102010706020507" pitchFamily="18" charset="2"/>
              </a:rPr>
              <a:t>”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baseline="-25000" dirty="0">
                <a:sym typeface="Symbol" panose="05050102010706020507" pitchFamily="18" charset="2"/>
              </a:rPr>
              <a:t>s</a:t>
            </a:r>
            <a:r>
              <a:rPr lang="en-US" altLang="ja-JP" i="1" baseline="-25000" dirty="0">
                <a:sym typeface="Symbol" panose="05050102010706020507" pitchFamily="18" charset="2"/>
              </a:rPr>
              <a:t>alary &gt; 90.000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sz="1700" dirty="0">
                <a:sym typeface="Symbol" panose="05050102010706020507" pitchFamily="18" charset="2"/>
              </a:rPr>
              <a:t>(</a:t>
            </a:r>
            <a:r>
              <a:rPr lang="en-US" altLang="ja-JP" sz="1700" i="1" dirty="0">
                <a:sym typeface="Symbol" panose="05050102010706020507" pitchFamily="18" charset="2"/>
              </a:rPr>
              <a:t>instructor</a:t>
            </a:r>
            <a:r>
              <a:rPr lang="en-US" altLang="ja-JP" sz="1700" dirty="0">
                <a:sym typeface="Symbol" panose="05050102010706020507" pitchFamily="18" charset="2"/>
              </a:rPr>
              <a:t>))</a:t>
            </a:r>
          </a:p>
          <a:p>
            <a:pPr>
              <a:buNone/>
            </a:pPr>
            <a:r>
              <a:rPr lang="en-US" altLang="ja-JP" sz="800" dirty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two queries are not identical; they are, however, equivalent -- they give the same result on any database.</a:t>
            </a: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Equivalent Queries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68349" y="1138873"/>
                <a:ext cx="7638803" cy="4506023"/>
              </a:xfrm>
            </p:spPr>
            <p:txBody>
              <a:bodyPr/>
              <a:lstStyle/>
              <a:p>
                <a:r>
                  <a:rPr lang="en-US" altLang="en-US" sz="1700" dirty="0"/>
                  <a:t>There is more than one way to write a query in relational algebra. </a:t>
                </a:r>
              </a:p>
              <a:p>
                <a:r>
                  <a:rPr lang="en-US" altLang="en-US" sz="1700" dirty="0"/>
                  <a:t>Example:  Find information about courses taught by instructors in the Physics department</a:t>
                </a:r>
              </a:p>
              <a:p>
                <a:r>
                  <a:rPr lang="en-US" altLang="en-US" sz="1700" dirty="0"/>
                  <a:t>Query 1</a:t>
                </a:r>
              </a:p>
              <a:p>
                <a:pPr marL="0" indent="0"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i="1" baseline="-25000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=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“</a:t>
                </a:r>
                <a:r>
                  <a:rPr lang="en-US" altLang="ja-JP" i="1" baseline="-25000" dirty="0">
                    <a:sym typeface="Symbol" panose="05050102010706020507" pitchFamily="18" charset="2"/>
                  </a:rPr>
                  <a:t>Physics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” 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(i</a:t>
                </a:r>
                <a:r>
                  <a:rPr lang="en-US" altLang="en-US" sz="1700" i="1" dirty="0">
                    <a:sym typeface="Symbol" panose="05050102010706020507" pitchFamily="18" charset="2"/>
                  </a:rPr>
                  <a:t>nstructor</a:t>
                </a:r>
                <a:r>
                  <a:rPr lang="en-US" altLang="en-US" sz="17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baseline="-25000" dirty="0"/>
                  <a:t> </a:t>
                </a:r>
                <a:r>
                  <a:rPr lang="en-US" sz="1700" i="1" dirty="0"/>
                  <a:t>teaches)</a:t>
                </a:r>
                <a:endParaRPr lang="en-US" altLang="en-US" sz="1700" dirty="0"/>
              </a:p>
              <a:p>
                <a:pPr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r>
                  <a:rPr lang="en-US" altLang="en-US" sz="1700" dirty="0">
                    <a:sym typeface="Symbol" panose="05050102010706020507" pitchFamily="18" charset="2"/>
                  </a:rPr>
                  <a:t>Query 2</a:t>
                </a:r>
                <a:endParaRPr lang="en-US" altLang="en-US" sz="1700" dirty="0"/>
              </a:p>
              <a:p>
                <a:pPr>
                  <a:buNone/>
                </a:pPr>
                <a:r>
                  <a:rPr lang="en-US" altLang="en-US" sz="1700" i="1" dirty="0">
                    <a:sym typeface="Symbol" panose="05050102010706020507" pitchFamily="18" charset="2"/>
                  </a:rPr>
                  <a:t>       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i="1" baseline="-25000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en-US" i="1" baseline="-25000" dirty="0">
                    <a:sym typeface="Symbol" panose="05050102010706020507" pitchFamily="18" charset="2"/>
                  </a:rPr>
                  <a:t>=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“</a:t>
                </a:r>
                <a:r>
                  <a:rPr lang="en-US" altLang="ja-JP" i="1" baseline="-25000" dirty="0">
                    <a:sym typeface="Symbol" panose="05050102010706020507" pitchFamily="18" charset="2"/>
                  </a:rPr>
                  <a:t>Physics</a:t>
                </a:r>
                <a:r>
                  <a:rPr lang="ja-JP" altLang="en-US" i="1" baseline="-25000" dirty="0">
                    <a:sym typeface="Symbol" panose="05050102010706020507" pitchFamily="18" charset="2"/>
                  </a:rPr>
                  <a:t>” </a:t>
                </a:r>
                <a:r>
                  <a:rPr lang="en-US" altLang="ja-JP" sz="1700" i="1" dirty="0">
                    <a:sym typeface="Symbol" panose="05050102010706020507" pitchFamily="18" charset="2"/>
                  </a:rPr>
                  <a:t>(i</a:t>
                </a:r>
                <a:r>
                  <a:rPr lang="en-US" altLang="en-US" sz="1700" i="1" dirty="0">
                    <a:sym typeface="Symbol" panose="05050102010706020507" pitchFamily="18" charset="2"/>
                  </a:rPr>
                  <a:t>nstructor))</a:t>
                </a:r>
                <a:r>
                  <a:rPr lang="en-US" altLang="en-US" sz="17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baseline="-25000" dirty="0"/>
                  <a:t>instructor.ID = teaches.ID</a:t>
                </a:r>
                <a:r>
                  <a:rPr lang="en-US" baseline="-25000" dirty="0"/>
                  <a:t> </a:t>
                </a:r>
                <a:r>
                  <a:rPr lang="en-US" sz="1700" i="1" dirty="0"/>
                  <a:t>teaches</a:t>
                </a:r>
              </a:p>
              <a:p>
                <a:pPr>
                  <a:buNone/>
                </a:pPr>
                <a:r>
                  <a:rPr lang="en-US" altLang="ja-JP" sz="800" dirty="0">
                    <a:sym typeface="Symbol" panose="05050102010706020507" pitchFamily="18" charset="2"/>
                  </a:rPr>
                  <a:t> </a:t>
                </a:r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r>
                  <a:rPr lang="en-US" altLang="en-US" sz="1700" dirty="0">
                    <a:sym typeface="Symbol" panose="05050102010706020507" pitchFamily="18" charset="2"/>
                  </a:rPr>
                  <a:t>The two queries are not identical; they are, however, equivalent -- they give the same result on any database.</a:t>
                </a:r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pPr>
                  <a:lnSpc>
                    <a:spcPct val="90000"/>
                  </a:lnSpc>
                  <a:tabLst>
                    <a:tab pos="1658938" algn="l"/>
                    <a:tab pos="3149600" algn="ctr"/>
                    <a:tab pos="3425825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1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8349" y="1138873"/>
                <a:ext cx="7638803" cy="4506023"/>
              </a:xfrm>
              <a:blipFill>
                <a:blip r:embed="rId3"/>
                <a:stretch>
                  <a:fillRect l="-559" t="-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End of Chapter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95262</TotalTime>
  <Words>2174</Words>
  <Application>Microsoft Macintosh PowerPoint</Application>
  <PresentationFormat>On-screen Show (4:3)</PresentationFormat>
  <Paragraphs>252</Paragraphs>
  <Slides>34</Slides>
  <Notes>31</Notes>
  <HiddenSlides>2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  <vt:variant>
        <vt:lpstr>Custom Shows</vt:lpstr>
      </vt:variant>
      <vt:variant>
        <vt:i4>1</vt:i4>
      </vt:variant>
    </vt:vector>
  </HeadingPairs>
  <TitlesOfParts>
    <vt:vector size="45" baseType="lpstr">
      <vt:lpstr>ＭＳ Ｐゴシック</vt:lpstr>
      <vt:lpstr>Arial</vt:lpstr>
      <vt:lpstr>Cambria Math</vt:lpstr>
      <vt:lpstr>Helvetica</vt:lpstr>
      <vt:lpstr>Monotype Sorts</vt:lpstr>
      <vt:lpstr>Symbol</vt:lpstr>
      <vt:lpstr>Times New Roman</vt:lpstr>
      <vt:lpstr>Webdings</vt:lpstr>
      <vt:lpstr>Wingdings</vt:lpstr>
      <vt:lpstr>2_db-5-grey</vt:lpstr>
      <vt:lpstr>Chapter 2: Intro to Relational Model</vt:lpstr>
      <vt:lpstr>Outline</vt:lpstr>
      <vt:lpstr>Example of a Instructor  Relation</vt:lpstr>
      <vt:lpstr>Relation Schema and Instance</vt:lpstr>
      <vt:lpstr>Attributes</vt:lpstr>
      <vt:lpstr>Relations are Unordered</vt:lpstr>
      <vt:lpstr>Database Schema</vt:lpstr>
      <vt:lpstr>Keys</vt:lpstr>
      <vt:lpstr>Schema Diagram for University Database</vt:lpstr>
      <vt:lpstr>Relational Query Languages</vt:lpstr>
      <vt:lpstr>Relational Algebra</vt:lpstr>
      <vt:lpstr>Select Operation</vt:lpstr>
      <vt:lpstr>Select Operation (Cont.)</vt:lpstr>
      <vt:lpstr>Project Operation Example</vt:lpstr>
      <vt:lpstr>Project Operation</vt:lpstr>
      <vt:lpstr>Composition of Relational Operations</vt:lpstr>
      <vt:lpstr>Cartesian-Product Operation</vt:lpstr>
      <vt:lpstr>The  instructor  X  teaches  table</vt:lpstr>
      <vt:lpstr>Join Operation</vt:lpstr>
      <vt:lpstr>Join Operation (Cont.)</vt:lpstr>
      <vt:lpstr>Join Operation (Cont.)</vt:lpstr>
      <vt:lpstr>Union Operation</vt:lpstr>
      <vt:lpstr>section table</vt:lpstr>
      <vt:lpstr>Union Operation (Cont.)</vt:lpstr>
      <vt:lpstr>Set-Intersection Operation</vt:lpstr>
      <vt:lpstr>Set Difference Operation</vt:lpstr>
      <vt:lpstr>The Assignment  Operation </vt:lpstr>
      <vt:lpstr>The Rename Operation </vt:lpstr>
      <vt:lpstr>Aggregate Functions</vt:lpstr>
      <vt:lpstr>Aggregate Functions Examples</vt:lpstr>
      <vt:lpstr>Aggregate Functions – Group By</vt:lpstr>
      <vt:lpstr>Equivalent Queries</vt:lpstr>
      <vt:lpstr>Equivalent Queries</vt:lpstr>
      <vt:lpstr>End of Chapter 2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S. Sudarshan</cp:lastModifiedBy>
  <cp:revision>491</cp:revision>
  <cp:lastPrinted>1999-06-28T19:27:31Z</cp:lastPrinted>
  <dcterms:created xsi:type="dcterms:W3CDTF">2009-12-21T15:40:22Z</dcterms:created>
  <dcterms:modified xsi:type="dcterms:W3CDTF">2026-01-05T07:21:21Z</dcterms:modified>
</cp:coreProperties>
</file>